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1" r:id="rId2"/>
    <p:sldId id="257" r:id="rId3"/>
    <p:sldId id="258" r:id="rId4"/>
    <p:sldId id="259" r:id="rId5"/>
    <p:sldId id="260" r:id="rId6"/>
    <p:sldId id="2581" r:id="rId7"/>
    <p:sldId id="2578" r:id="rId8"/>
    <p:sldId id="2582" r:id="rId9"/>
    <p:sldId id="2580" r:id="rId10"/>
    <p:sldId id="263" r:id="rId11"/>
    <p:sldId id="2574" r:id="rId12"/>
    <p:sldId id="265" r:id="rId13"/>
    <p:sldId id="266" r:id="rId14"/>
    <p:sldId id="2587" r:id="rId15"/>
    <p:sldId id="268" r:id="rId16"/>
    <p:sldId id="267" r:id="rId17"/>
    <p:sldId id="2575" r:id="rId18"/>
    <p:sldId id="2585" r:id="rId19"/>
    <p:sldId id="261" r:id="rId20"/>
    <p:sldId id="270" r:id="rId21"/>
    <p:sldId id="269" r:id="rId22"/>
    <p:sldId id="2588" r:id="rId23"/>
    <p:sldId id="2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Sentinel – Microsoft 365 Security &amp; Governance Intelligence" id="{BC825671-DC3E-4CF9-9CE8-C817D6BCE130}">
          <p14:sldIdLst>
            <p14:sldId id="2561"/>
            <p14:sldId id="257"/>
            <p14:sldId id="258"/>
            <p14:sldId id="259"/>
            <p14:sldId id="260"/>
            <p14:sldId id="2581"/>
            <p14:sldId id="2578"/>
            <p14:sldId id="2582"/>
            <p14:sldId id="2580"/>
            <p14:sldId id="263"/>
            <p14:sldId id="2574"/>
            <p14:sldId id="265"/>
            <p14:sldId id="266"/>
            <p14:sldId id="2587"/>
            <p14:sldId id="268"/>
            <p14:sldId id="267"/>
            <p14:sldId id="2575"/>
            <p14:sldId id="2585"/>
            <p14:sldId id="261"/>
            <p14:sldId id="270"/>
            <p14:sldId id="269"/>
            <p14:sldId id="2588"/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303"/>
    <a:srgbClr val="F9F7FF"/>
    <a:srgbClr val="A870D2"/>
    <a:srgbClr val="FFFFFF"/>
    <a:srgbClr val="57660A"/>
    <a:srgbClr val="E7F9F9"/>
    <a:srgbClr val="38194F"/>
    <a:srgbClr val="E4DDFF"/>
    <a:srgbClr val="86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81D6D-EF8E-4937-70A6-AB71BE71E3F4}" v="5" dt="2026-06-04T11:55:04.317"/>
    <p1510:client id="{11E3A24B-31B6-E6D2-1517-1CBAB057255D}" v="36" dt="2026-06-04T13:21:26.977"/>
    <p1510:client id="{29B1487D-43C2-11A3-2502-F975390BEB01}" v="106" dt="2026-06-04T12:19:06.835"/>
    <p1510:client id="{5D71006E-4332-021A-9C5C-B0DFC6FFBCB7}" v="62" dt="2026-06-04T12:57:50.556"/>
    <p1510:client id="{5FFE9BB9-A385-2F76-87DC-B4FC7338152D}" v="151" dt="2026-06-04T12:25:22.451"/>
    <p1510:client id="{6AAC0BC8-4147-4023-4406-4FAF098CD692}" v="1" dt="2026-06-04T09:38:49.749"/>
    <p1510:client id="{72E807AB-33BD-2B39-B4F9-C431CF98C678}" v="200" dt="2026-06-04T13:01:27.882"/>
    <p1510:client id="{CFE1D423-C88D-420A-9B1D-D9F1E09D8CAB}" v="1680" dt="2026-06-04T13:20:42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5535C-7A0E-4BAC-9710-9ABDA8044708}" type="datetimeFigureOut"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88742-272B-4BDB-B943-C7CF6E1782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3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4686-0BC8-4807-853F-84089D442167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48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C82F-DB4C-72D6-7992-98AA45C9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BA5E1-8B57-4AD2-D560-8C3829267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524D6-F642-7190-2487-993EEC8F2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BF75-2F2B-A454-305D-7A40286B5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54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4686-0BC8-4807-853F-84089D442167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74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0649C-2643-457A-84C5-CE6DC05474D7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2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24F3-0243-42F4-8E12-5F9F517F7B4C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0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8E34E-FBB7-4ECF-8B4D-BC833262BA10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6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417F-B930-4E65-B0EF-D650292A2E4C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719480-E465-4170-ADC7-1D6679140D98}" type="datetime4">
              <a:rPr lang="en-US" smtClean="0"/>
              <a:t>June 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5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4A9A456-4800-49EF-A111-1F19F9CC57EC}" type="datetime4">
              <a:rPr lang="en-US" smtClean="0"/>
              <a:t>June 4, 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548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F5058A2B-71FF-4E7D-9A3B-BAE026D4D158}" type="datetime4">
              <a:rPr lang="en-US" smtClean="0"/>
              <a:t>June 4, 2026</a:t>
            </a:fld>
            <a:endParaRPr lang="en-US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9035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9FDF4AF5-5CB6-419F-BB35-5B8745C2D7DA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96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892F-139F-4B71-894A-9F21D91AF59E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E27ECD03-7DC4-4DB7-A05C-F60207517273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8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08BF5-0499-44E1-BABB-20646B50AB8F}" type="datetime4">
              <a:rPr lang="en-US" smtClean="0"/>
              <a:t>June 4, 2026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1004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1414-550B-4F40-947B-A741F34E57FA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4E2F-95A3-4D3E-938B-10F1F8E0C8BE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2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30F2-7071-4CE6-A1BD-1D4F2B0AD019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0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714C-EC2F-479C-9B4F-E177643A0BCC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605F0ED2-A6D9-47E2-A7FD-19C1A0EE3483}" type="datetime4">
              <a:rPr lang="en-US" smtClean="0"/>
              <a:t>June 4,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1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04CED2CE-FEA9-4406-96B2-D9A818C440DA}" type="datetime4">
              <a:rPr lang="en-US" smtClean="0"/>
              <a:t>June 4,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3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336A-C8B2-44FB-8B7A-14B4732FE3EC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4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9D59001B-F9C8-4B08-81A0-3F452BDC440A}" type="datetime4">
              <a:rPr lang="en-US" smtClean="0"/>
              <a:t>June 4, 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8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8ACA5B7D-8CDD-46F4-91C0-A141B662CB72}" type="datetime4">
              <a:rPr lang="en-US" smtClean="0"/>
              <a:t>June 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9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825DAD16-7026-4FE5-8E0D-C12A9C186B07}" type="datetime4">
              <a:rPr lang="en-US" smtClean="0"/>
              <a:t>June 4,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BDA709B6-5CA4-4B1C-B6F4-C23EAB85978A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4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6ACF4-943F-44BA-82CA-94BF56CA7281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7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FF47E6A1-B16C-42FE-9815-B257931550C3}" type="datetime4">
              <a:rPr lang="en-US" smtClean="0"/>
              <a:t>June 4,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5566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660F74E7-CE66-42ED-8507-819ADAE80C45}" type="datetime4">
              <a:rPr lang="en-US" smtClean="0"/>
              <a:t>June 4,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E775C718-F4FA-4260-A95E-0ED280FD2F09}" type="datetime4">
              <a:rPr lang="en-US" smtClean="0"/>
              <a:t>June 4,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6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84240E95-C813-4DE8-9C93-C42DEC6CE0BD}" type="datetime4">
              <a:rPr lang="en-US" smtClean="0"/>
              <a:t>June 4,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0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F6273064-376B-422A-B3F4-97507E695E5D}" type="datetime4">
              <a:rPr lang="en-US" smtClean="0"/>
              <a:t>June 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6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E8F17F0D-A7C4-44AA-B993-BF6959B59D42}" type="datetime4">
              <a:rPr lang="en-US" smtClean="0"/>
              <a:t>June 4,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3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24A0AB6-A6A4-4342-8FD0-015333448B2D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6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8F1AA8-15A2-4B7E-B5BD-638EAEE7EBA6}" type="datetime4">
              <a:rPr lang="en-US" smtClean="0"/>
              <a:t>June 4,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210A0-BE9B-4DE2-8092-CC9FDF45A88C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9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5ECE-C3F2-4918-8BA5-B10B63704170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1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BBD880-10E7-41E0-B04D-693042B1797B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1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EA5B92-5DD5-421F-8CCE-48D3218CE001}" type="datetime4">
              <a:rPr lang="en-US" smtClean="0"/>
              <a:t>June 4, 2026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69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36CD2-4C7F-4B8F-A67C-917DABF841F0}" type="datetime4">
              <a:rPr lang="en-US" smtClean="0"/>
              <a:t>June 4, 2026</a:t>
            </a:fld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9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48EC12-EA81-4139-ACB9-C1C140DACFCD}" type="datetime4">
              <a:rPr lang="en-US" smtClean="0"/>
              <a:t>June 4, 2026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99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30AE-3AA2-44AA-B2F4-132C84A844F7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3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1170D6-DA0E-4C5E-BD2D-C2856BB82F0B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039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099C7CE-F650-4319-B2CF-9B2C28BC15FC}" type="datetime4">
              <a:rPr lang="en-US" smtClean="0"/>
              <a:t>June 4,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5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C143-7961-42CA-BCAF-C6742E453F41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789264B2-EDCD-46B4-8D22-AC36BCB29FD5}" type="datetime4">
              <a:rPr lang="en-US" smtClean="0"/>
              <a:t>June 4, 2026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80337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58E4-9920-47BE-A128-636375805D69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8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1C91-3CCE-42FF-AE84-896AEDE8D51B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6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1B34-1E0F-4375-B20E-DC6FD2FD61CE}" type="datetime4">
              <a:rPr lang="en-US" smtClean="0"/>
              <a:t>June 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7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F240-7831-40A1-A836-942ABBE967E9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3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C700D-6271-4D3A-B698-C6750D126511}" type="datetime4">
              <a:rPr lang="en-US" smtClean="0"/>
              <a:t>June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3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4CAC-BCBF-487A-B02A-210476F4DD8E}" type="datetime4">
              <a:rPr lang="en-US" smtClean="0"/>
              <a:t>June 4,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1116-75F3-448D-9A64-51E156A6EA20}" type="datetime4">
              <a:rPr lang="en-US" smtClean="0"/>
              <a:t>June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3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49EE-4139-4179-89ED-9CF6716B098B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1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B915-E5CB-4D12-B00F-633C50FF8352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5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36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F65B05C0-3402-44FF-8E25-2A3A776B3B1E}" type="datetime4">
              <a:rPr lang="en-US" smtClean="0"/>
              <a:t>June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8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wanthKanderi/Project-Sentinel/blob/main/README.md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0628-FAF2-5CE1-2AA0-D60A63230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775" y="1266825"/>
            <a:ext cx="4759325" cy="3657600"/>
          </a:xfrm>
        </p:spPr>
        <p:txBody>
          <a:bodyPr anchor="t">
            <a:normAutofit fontScale="90000"/>
          </a:bodyPr>
          <a:lstStyle/>
          <a:p>
            <a:r>
              <a:rPr lang="en-US"/>
              <a:t>PROJECT SENTINEL</a:t>
            </a:r>
            <a:br>
              <a:rPr lang="en-US"/>
            </a:br>
            <a:r>
              <a:rPr lang="en-US" sz="2200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Governance Intelligence Extraction Tool</a:t>
            </a:r>
            <a:br>
              <a:rPr lang="en-US" sz="2200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200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Team Shadow Stacks  x  SECMON1 (Christopher McNaughton)</a:t>
            </a:r>
            <a:br>
              <a:rPr lang="en-US" sz="1800"/>
            </a:br>
            <a:br>
              <a:rPr lang="en-US" sz="6000"/>
            </a:br>
            <a:br>
              <a:rPr lang="en-US" sz="1600"/>
            </a:br>
            <a:endParaRPr lang="en-US" sz="1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F39D6-57D5-2C3F-61D4-3D5129D21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619749"/>
            <a:ext cx="4883278" cy="724205"/>
          </a:xfrm>
        </p:spPr>
        <p:txBody>
          <a:bodyPr anchor="b">
            <a:normAutofit lnSpcReduction="10000"/>
          </a:bodyPr>
          <a:lstStyle/>
          <a:p>
            <a:r>
              <a:rPr lang="en-US" i="1">
                <a:solidFill>
                  <a:srgbClr val="A870D2"/>
                </a:solidFill>
                <a:latin typeface="+mj-lt"/>
                <a:ea typeface="Calibri" pitchFamily="34" charset="-122"/>
                <a:cs typeface="Calibri" pitchFamily="34" charset="-120"/>
              </a:rPr>
              <a:t>CSE5IDP - Industry Development Program  |  La Trobe University  |  2026</a:t>
            </a:r>
            <a:endParaRPr lang="en-US" i="1">
              <a:latin typeface="+mj-l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0DFB321-501E-B842-5394-527961664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7" name="Picture 6" descr="Digital security concept on binary data code">
            <a:extLst>
              <a:ext uri="{FF2B5EF4-FFF2-40B4-BE49-F238E27FC236}">
                <a16:creationId xmlns:a16="http://schemas.microsoft.com/office/drawing/2014/main" id="{75007657-5E40-4EFA-9C40-B2847603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72"/>
          <a:stretch>
            <a:fillRect/>
          </a:stretch>
        </p:blipFill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217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"/>
            <a:ext cx="12192000" cy="1036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219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TEAM SHADOW STACKS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487680" y="792480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Trobe University  .  CSE5IDP  .  Industry Partner: SECMON1</a:t>
            </a:r>
            <a:endParaRPr lang="en-US" sz="1333"/>
          </a:p>
        </p:txBody>
      </p:sp>
      <p:sp>
        <p:nvSpPr>
          <p:cNvPr id="5" name="Shape 3"/>
          <p:cNvSpPr/>
          <p:nvPr/>
        </p:nvSpPr>
        <p:spPr>
          <a:xfrm>
            <a:off x="365760" y="147334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7334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707136" y="157087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 Mustyala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707136" y="200979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PM</a:t>
            </a:r>
            <a:endParaRPr lang="en-US" sz="1333"/>
          </a:p>
        </p:txBody>
      </p:sp>
      <p:sp>
        <p:nvSpPr>
          <p:cNvPr id="9" name="Text 7"/>
          <p:cNvSpPr/>
          <p:nvPr/>
        </p:nvSpPr>
        <p:spPr>
          <a:xfrm>
            <a:off x="707136" y="232678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Sprint coordination, app registration, share point configuration, Sensitivity Label creation.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318022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18022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707136" y="327775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Lahari Borra</a:t>
            </a:r>
            <a:endParaRPr lang="en-US" sz="1733"/>
          </a:p>
        </p:txBody>
      </p:sp>
      <p:sp>
        <p:nvSpPr>
          <p:cNvPr id="13" name="Text 11"/>
          <p:cNvSpPr/>
          <p:nvPr/>
        </p:nvSpPr>
        <p:spPr>
          <a:xfrm>
            <a:off x="707136" y="371667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Specialist</a:t>
            </a:r>
            <a:endParaRPr lang="en-US" sz="1333"/>
          </a:p>
        </p:txBody>
      </p:sp>
      <p:sp>
        <p:nvSpPr>
          <p:cNvPr id="14" name="Text 12"/>
          <p:cNvSpPr/>
          <p:nvPr/>
        </p:nvSpPr>
        <p:spPr>
          <a:xfrm>
            <a:off x="707136" y="403366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schema v2.0, user docs, usability trial, Maintenance doc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88710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88710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707136" y="498463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Kanderi</a:t>
            </a:r>
            <a:endParaRPr lang="en-US" sz="1733"/>
          </a:p>
        </p:txBody>
      </p:sp>
      <p:sp>
        <p:nvSpPr>
          <p:cNvPr id="18" name="Text 16"/>
          <p:cNvSpPr/>
          <p:nvPr/>
        </p:nvSpPr>
        <p:spPr>
          <a:xfrm>
            <a:off x="707136" y="542355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333"/>
          </a:p>
        </p:txBody>
      </p:sp>
      <p:sp>
        <p:nvSpPr>
          <p:cNvPr id="19" name="Text 17"/>
          <p:cNvSpPr/>
          <p:nvPr/>
        </p:nvSpPr>
        <p:spPr>
          <a:xfrm>
            <a:off x="707136" y="574054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MS365 tenant setup, </a:t>
            </a:r>
            <a:r>
              <a:rPr lang="en-US" sz="1200">
                <a:solidFill>
                  <a:srgbClr val="64748B"/>
                </a:solidFill>
                <a:ea typeface="+mn-lt"/>
                <a:cs typeface="+mn-lt"/>
              </a:rPr>
              <a:t>Configured role assignments,</a:t>
            </a:r>
            <a:r>
              <a:rPr lang="en-US" sz="1200">
                <a:solidFill>
                  <a:srgbClr val="64748B"/>
                </a:solidFill>
                <a:latin typeface="Aptos Light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64748B"/>
                </a:solidFill>
                <a:latin typeface="-webkit-standard"/>
                <a:ea typeface="+mn-lt"/>
                <a:cs typeface="+mn-lt"/>
              </a:rPr>
              <a:t>GitHub Repository,</a:t>
            </a:r>
            <a:r>
              <a:rPr lang="en-US" sz="1200">
                <a:solidFill>
                  <a:srgbClr val="64748B"/>
                </a:solidFill>
                <a:latin typeface="-webkit-standard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Microsoft Purview config, DLP policy, audit validation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147334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9840" y="147334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22" name="Text 20"/>
          <p:cNvSpPr/>
          <p:nvPr/>
        </p:nvSpPr>
        <p:spPr>
          <a:xfrm>
            <a:off x="6681216" y="157087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Vanka Manjunath</a:t>
            </a:r>
            <a:endParaRPr lang="en-US" sz="1733"/>
          </a:p>
        </p:txBody>
      </p:sp>
      <p:sp>
        <p:nvSpPr>
          <p:cNvPr id="23" name="Text 21"/>
          <p:cNvSpPr/>
          <p:nvPr/>
        </p:nvSpPr>
        <p:spPr>
          <a:xfrm>
            <a:off x="6681216" y="200979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Developer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6681216" y="232678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extraction modules + timeline output, MSAL auth, </a:t>
            </a:r>
            <a:r>
              <a:rPr lang="en-US" sz="12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throttle_handler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, exporter, timeline, OneDrive sync, API Mapping.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339840" y="318022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9840" y="318022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6681216" y="327775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Bharanee Raghav Murru</a:t>
            </a:r>
            <a:endParaRPr lang="en-US" sz="1733"/>
          </a:p>
        </p:txBody>
      </p:sp>
      <p:sp>
        <p:nvSpPr>
          <p:cNvPr id="28" name="Text 26"/>
          <p:cNvSpPr/>
          <p:nvPr/>
        </p:nvSpPr>
        <p:spPr>
          <a:xfrm>
            <a:off x="6681216" y="371667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Developer</a:t>
            </a:r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6681216" y="403366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 KPI cards, slicers, DAX measures, risk visuals, 3 DAX bugs fixed</a:t>
            </a:r>
          </a:p>
        </p:txBody>
      </p:sp>
      <p:sp>
        <p:nvSpPr>
          <p:cNvPr id="30" name="Shape 28"/>
          <p:cNvSpPr/>
          <p:nvPr/>
        </p:nvSpPr>
        <p:spPr>
          <a:xfrm>
            <a:off x="6339840" y="4887103"/>
            <a:ext cx="56083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39840" y="4887103"/>
            <a:ext cx="219456" cy="15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2" name="Text 30"/>
          <p:cNvSpPr/>
          <p:nvPr/>
        </p:nvSpPr>
        <p:spPr>
          <a:xfrm>
            <a:off x="6681216" y="498463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Jaswanthi Palleti</a:t>
            </a:r>
            <a:endParaRPr lang="en-US" sz="1733"/>
          </a:p>
        </p:txBody>
      </p:sp>
      <p:sp>
        <p:nvSpPr>
          <p:cNvPr id="33" name="Text 31"/>
          <p:cNvSpPr/>
          <p:nvPr/>
        </p:nvSpPr>
        <p:spPr>
          <a:xfrm>
            <a:off x="6681216" y="5423551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6681216" y="5740543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data analysis, sensitivity label validation, permissions review, security risk assessment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438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267"/>
          </a:p>
        </p:txBody>
      </p:sp>
      <p:sp>
        <p:nvSpPr>
          <p:cNvPr id="4" name="Text 2"/>
          <p:cNvSpPr/>
          <p:nvPr/>
        </p:nvSpPr>
        <p:spPr>
          <a:xfrm>
            <a:off x="548640" y="99974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Microsoft 365 governance need to be solved?</a:t>
            </a:r>
            <a:endParaRPr lang="en-US" sz="1867"/>
          </a:p>
        </p:txBody>
      </p:sp>
      <p:sp>
        <p:nvSpPr>
          <p:cNvPr id="5" name="Shape 3"/>
          <p:cNvSpPr/>
          <p:nvPr/>
        </p:nvSpPr>
        <p:spPr>
          <a:xfrm>
            <a:off x="548640" y="1767840"/>
            <a:ext cx="5364480" cy="1950720"/>
          </a:xfrm>
          <a:prstGeom prst="rect">
            <a:avLst/>
          </a:prstGeom>
          <a:solidFill>
            <a:schemeClr val="tx2">
              <a:lumMod val="25000"/>
              <a:lumOff val="75000"/>
              <a:alpha val="40000"/>
            </a:scheme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88976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0" b="1">
                <a:solidFill>
                  <a:schemeClr val="accent1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[01]  Fragmented Data</a:t>
            </a:r>
            <a:endParaRPr lang="en-US" sz="1867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438400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MS365 governance signals (sign-ins, file metadata, permissions, DLP) are spread across multiple APIs - no single view exists.</a:t>
            </a:r>
          </a:p>
        </p:txBody>
      </p:sp>
      <p:sp>
        <p:nvSpPr>
          <p:cNvPr id="8" name="Shape 6"/>
          <p:cNvSpPr/>
          <p:nvPr/>
        </p:nvSpPr>
        <p:spPr>
          <a:xfrm>
            <a:off x="6278880" y="1767840"/>
            <a:ext cx="5364480" cy="1950720"/>
          </a:xfrm>
          <a:prstGeom prst="rect">
            <a:avLst/>
          </a:prstGeom>
          <a:solidFill>
            <a:schemeClr val="tx2">
              <a:lumMod val="25000"/>
              <a:lumOff val="75000"/>
              <a:alpha val="40000"/>
            </a:scheme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61760" y="188976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[02]  Manual &amp; Error-Prone</a:t>
            </a:r>
            <a:endParaRPr lang="en-US" sz="1867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1760" y="2438400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auditing of permissions and access controls is time-consuming and inconsistent across large tenants.</a:t>
            </a:r>
            <a:endParaRPr lang="en-US" sz="16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62400"/>
            <a:ext cx="5364480" cy="1950720"/>
          </a:xfrm>
          <a:prstGeom prst="rect">
            <a:avLst/>
          </a:prstGeom>
          <a:solidFill>
            <a:schemeClr val="tx2">
              <a:lumMod val="25000"/>
              <a:lumOff val="75000"/>
              <a:alpha val="40000"/>
            </a:scheme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8432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[03]  No Visibility</a:t>
            </a:r>
            <a:endParaRPr lang="en-US" sz="1867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4632960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Security teams at SECMON1 had no automated way to detect over-sharing, unlabeled files, or risky sign-in patterns.</a:t>
            </a:r>
          </a:p>
        </p:txBody>
      </p:sp>
      <p:sp>
        <p:nvSpPr>
          <p:cNvPr id="14" name="Shape 12"/>
          <p:cNvSpPr/>
          <p:nvPr/>
        </p:nvSpPr>
        <p:spPr>
          <a:xfrm>
            <a:off x="6278880" y="3962400"/>
            <a:ext cx="5364480" cy="1950720"/>
          </a:xfrm>
          <a:prstGeom prst="rect">
            <a:avLst/>
          </a:prstGeom>
          <a:solidFill>
            <a:schemeClr val="tx2">
              <a:lumMod val="50000"/>
              <a:lumOff val="50000"/>
              <a:alpha val="40000"/>
            </a:scheme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760" y="408432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[04]  Compliance Gaps</a:t>
            </a:r>
            <a:endParaRPr lang="en-US" sz="1867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760" y="4632960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DLP policy violations and missing sensitivity labels go undetected for weeks.</a:t>
            </a:r>
            <a:endParaRPr lang="en-US" sz="16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chemeClr val="accent1">
              <a:lumMod val="2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219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- PROJECT SENTINEL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11460480" cy="1036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280160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Sentinel automates the collection, analysis, and reporting of MS365 governance data - delivering a daily extraction of sign-in logs, file metadata, sharing permissions, and DLP findings into a structured JSON output that feeds the SECMON1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ShadowSight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platform.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560320"/>
            <a:ext cx="1950720" cy="134112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7680" y="2560320"/>
            <a:ext cx="1950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467"/>
          </a:p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67"/>
          </a:p>
        </p:txBody>
      </p:sp>
      <p:sp>
        <p:nvSpPr>
          <p:cNvPr id="8" name="Shape 6"/>
          <p:cNvSpPr/>
          <p:nvPr/>
        </p:nvSpPr>
        <p:spPr>
          <a:xfrm>
            <a:off x="2438400" y="3230880"/>
            <a:ext cx="3169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5392" y="2560320"/>
            <a:ext cx="1950720" cy="134112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55392" y="2560320"/>
            <a:ext cx="1950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Auth</a:t>
            </a:r>
            <a:endParaRPr lang="en-US" sz="1467"/>
          </a:p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(OAuth 2.0)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4706112" y="3230880"/>
            <a:ext cx="3169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3104" y="2560320"/>
            <a:ext cx="1950720" cy="13411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3104" y="2560320"/>
            <a:ext cx="1950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Extraction</a:t>
            </a:r>
            <a:endParaRPr lang="en-US" sz="1467"/>
          </a:p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67"/>
          </a:p>
        </p:txBody>
      </p:sp>
      <p:sp>
        <p:nvSpPr>
          <p:cNvPr id="14" name="Shape 12"/>
          <p:cNvSpPr/>
          <p:nvPr/>
        </p:nvSpPr>
        <p:spPr>
          <a:xfrm>
            <a:off x="6973824" y="3230880"/>
            <a:ext cx="3169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0816" y="2560320"/>
            <a:ext cx="1950720" cy="134112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90816" y="2560320"/>
            <a:ext cx="1950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67"/>
          </a:p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9241536" y="3230880"/>
            <a:ext cx="3169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8528" y="2560320"/>
            <a:ext cx="1950720" cy="134112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58528" y="2560320"/>
            <a:ext cx="1950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467"/>
          </a:p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Power BI</a:t>
            </a:r>
            <a:endParaRPr lang="en-US" sz="1467"/>
          </a:p>
        </p:txBody>
      </p:sp>
      <p:sp>
        <p:nvSpPr>
          <p:cNvPr id="20" name="Shape 18"/>
          <p:cNvSpPr/>
          <p:nvPr/>
        </p:nvSpPr>
        <p:spPr>
          <a:xfrm>
            <a:off x="487680" y="4328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680" y="445008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933"/>
          </a:p>
        </p:txBody>
      </p:sp>
      <p:sp>
        <p:nvSpPr>
          <p:cNvPr id="22" name="Text 20"/>
          <p:cNvSpPr/>
          <p:nvPr/>
        </p:nvSpPr>
        <p:spPr>
          <a:xfrm>
            <a:off x="4876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Runs</a:t>
            </a:r>
            <a:endParaRPr lang="en-US" sz="1467"/>
          </a:p>
        </p:txBody>
      </p:sp>
      <p:sp>
        <p:nvSpPr>
          <p:cNvPr id="23" name="Shape 21"/>
          <p:cNvSpPr/>
          <p:nvPr/>
        </p:nvSpPr>
        <p:spPr>
          <a:xfrm>
            <a:off x="3352800" y="4328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2800" y="445008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Files</a:t>
            </a:r>
            <a:endParaRPr lang="en-US" sz="2933"/>
          </a:p>
        </p:txBody>
      </p:sp>
      <p:sp>
        <p:nvSpPr>
          <p:cNvPr id="25" name="Text 23"/>
          <p:cNvSpPr/>
          <p:nvPr/>
        </p:nvSpPr>
        <p:spPr>
          <a:xfrm>
            <a:off x="335280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Extraction</a:t>
            </a:r>
            <a:endParaRPr lang="en-US" sz="1467"/>
          </a:p>
        </p:txBody>
      </p:sp>
      <p:sp>
        <p:nvSpPr>
          <p:cNvPr id="26" name="Shape 24"/>
          <p:cNvSpPr/>
          <p:nvPr/>
        </p:nvSpPr>
        <p:spPr>
          <a:xfrm>
            <a:off x="6217920" y="4328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445008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Fields</a:t>
            </a:r>
            <a:endParaRPr lang="en-US" sz="2933"/>
          </a:p>
        </p:txBody>
      </p:sp>
      <p:sp>
        <p:nvSpPr>
          <p:cNvPr id="28" name="Text 26"/>
          <p:cNvSpPr/>
          <p:nvPr/>
        </p:nvSpPr>
        <p:spPr>
          <a:xfrm>
            <a:off x="621792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v2.0.0</a:t>
            </a:r>
            <a:endParaRPr lang="en-US" sz="1467"/>
          </a:p>
        </p:txBody>
      </p:sp>
      <p:sp>
        <p:nvSpPr>
          <p:cNvPr id="29" name="Shape 27"/>
          <p:cNvSpPr/>
          <p:nvPr/>
        </p:nvSpPr>
        <p:spPr>
          <a:xfrm>
            <a:off x="9083040" y="4328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83040" y="445008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SECMON1</a:t>
            </a:r>
            <a:endParaRPr lang="en-US" sz="2933"/>
          </a:p>
        </p:txBody>
      </p:sp>
      <p:sp>
        <p:nvSpPr>
          <p:cNvPr id="31" name="Text 29"/>
          <p:cNvSpPr/>
          <p:nvPr/>
        </p:nvSpPr>
        <p:spPr>
          <a:xfrm>
            <a:off x="908304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14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>
              <a:solidFill>
                <a:schemeClr val="accent1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C70703CC-4DB9-BC74-943E-EC179C54C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25000"/>
                  </a:schemeClr>
                </a:solidFill>
                <a:ea typeface="Calibri"/>
                <a:cs typeface="Calibri"/>
              </a:rPr>
              <a:t>USER STORIES &amp; PERSONAS</a:t>
            </a:r>
            <a:br>
              <a:rPr lang="en-US"/>
            </a:br>
            <a:endParaRPr lang="en-IN"/>
          </a:p>
        </p:txBody>
      </p:sp>
      <p:sp>
        <p:nvSpPr>
          <p:cNvPr id="40" name="Subtitle 39">
            <a:extLst>
              <a:ext uri="{FF2B5EF4-FFF2-40B4-BE49-F238E27FC236}">
                <a16:creationId xmlns:a16="http://schemas.microsoft.com/office/drawing/2014/main" id="{99943F8B-0C1C-00CA-6757-08564F6AE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4080" y="3440545"/>
            <a:ext cx="5347854" cy="2694708"/>
          </a:xfrm>
        </p:spPr>
        <p:txBody>
          <a:bodyPr>
            <a:normAutofit/>
          </a:bodyPr>
          <a:lstStyle/>
          <a:p>
            <a:pPr algn="l"/>
            <a:r>
              <a:rPr lang="en-US" sz="2400" i="1">
                <a:solidFill>
                  <a:srgbClr val="5B4FCF"/>
                </a:solidFill>
                <a:latin typeface="+mj-lt"/>
                <a:ea typeface="Georgia" pitchFamily="34" charset="-122"/>
                <a:cs typeface="Georgia" pitchFamily="34" charset="-120"/>
              </a:rPr>
              <a:t>User Story 1: Governance Administrator</a:t>
            </a:r>
          </a:p>
          <a:p>
            <a:pPr algn="l"/>
            <a:r>
              <a:rPr lang="en-US" sz="2400" i="1">
                <a:solidFill>
                  <a:srgbClr val="5B4FCF"/>
                </a:solidFill>
                <a:latin typeface="+mj-lt"/>
                <a:ea typeface="Georgia" pitchFamily="34" charset="-122"/>
                <a:cs typeface="Georgia" pitchFamily="34" charset="-120"/>
              </a:rPr>
              <a:t>User Story 2: Security Analyst</a:t>
            </a:r>
          </a:p>
          <a:p>
            <a:pPr algn="l"/>
            <a:r>
              <a:rPr lang="en-US" sz="2400" i="1">
                <a:solidFill>
                  <a:srgbClr val="5B4FCF"/>
                </a:solidFill>
                <a:latin typeface="+mj-lt"/>
                <a:ea typeface="Georgia" pitchFamily="34" charset="-122"/>
                <a:cs typeface="Georgia" pitchFamily="34" charset="-120"/>
              </a:rPr>
              <a:t>User Story 3: Compliance Officer</a:t>
            </a:r>
          </a:p>
          <a:p>
            <a:pPr algn="l"/>
            <a:r>
              <a:rPr lang="en-US" sz="2400" i="1">
                <a:solidFill>
                  <a:srgbClr val="5B4FCF"/>
                </a:solidFill>
                <a:latin typeface="+mj-lt"/>
                <a:ea typeface="Georgia" pitchFamily="34" charset="-122"/>
                <a:cs typeface="Georgia" pitchFamily="34" charset="-120"/>
              </a:rPr>
              <a:t>User Story 4: Automated Governance</a:t>
            </a:r>
            <a:endParaRPr lang="en-US" sz="200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AA812AC6-3F5D-B1DE-E7B4-8922EEE7AA57}"/>
              </a:ext>
            </a:extLst>
          </p:cNvPr>
          <p:cNvSpPr/>
          <p:nvPr/>
        </p:nvSpPr>
        <p:spPr>
          <a:xfrm>
            <a:off x="975360" y="121920"/>
            <a:ext cx="292608" cy="292608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0ED647B-0462-FB67-A916-38225D382D79}"/>
              </a:ext>
            </a:extLst>
          </p:cNvPr>
          <p:cNvSpPr/>
          <p:nvPr/>
        </p:nvSpPr>
        <p:spPr>
          <a:xfrm>
            <a:off x="365760" y="182880"/>
            <a:ext cx="1767840" cy="341376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99AED2D-A648-267F-C4A0-F7296D5B9A09}"/>
              </a:ext>
            </a:extLst>
          </p:cNvPr>
          <p:cNvSpPr/>
          <p:nvPr/>
        </p:nvSpPr>
        <p:spPr>
          <a:xfrm>
            <a:off x="360431" y="179450"/>
            <a:ext cx="1767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1</a:t>
            </a:r>
            <a:endParaRPr lang="en-US" sz="1133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5459855-6EB5-5E7D-F5A6-E387B82ECF16}"/>
              </a:ext>
            </a:extLst>
          </p:cNvPr>
          <p:cNvSpPr/>
          <p:nvPr/>
        </p:nvSpPr>
        <p:spPr>
          <a:xfrm>
            <a:off x="365760" y="560832"/>
            <a:ext cx="792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i="1">
                <a:solidFill>
                  <a:srgbClr val="5B4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Administrator</a:t>
            </a:r>
            <a:endParaRPr lang="en-US" sz="3733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13E0532-4F42-C8A4-EF02-BDEA827C675E}"/>
              </a:ext>
            </a:extLst>
          </p:cNvPr>
          <p:cNvSpPr/>
          <p:nvPr/>
        </p:nvSpPr>
        <p:spPr>
          <a:xfrm>
            <a:off x="365760" y="1194816"/>
            <a:ext cx="2316480" cy="292608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8CEDD4B-46CA-1591-B668-E4AC6F00EC8C}"/>
              </a:ext>
            </a:extLst>
          </p:cNvPr>
          <p:cNvSpPr/>
          <p:nvPr/>
        </p:nvSpPr>
        <p:spPr>
          <a:xfrm>
            <a:off x="360431" y="1219200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 MS365 Governance Admin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C592E94-6020-3C37-5BA7-6471768A1FBB}"/>
              </a:ext>
            </a:extLst>
          </p:cNvPr>
          <p:cNvSpPr/>
          <p:nvPr/>
        </p:nvSpPr>
        <p:spPr>
          <a:xfrm>
            <a:off x="2804160" y="1194816"/>
            <a:ext cx="890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Cannot manually monitor thousands of governance events across the tenant</a:t>
            </a:r>
            <a:endParaRPr lang="en-US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70EF1BD6-DA0D-259D-481F-BB463598DDAA}"/>
              </a:ext>
            </a:extLst>
          </p:cNvPr>
          <p:cNvSpPr/>
          <p:nvPr/>
        </p:nvSpPr>
        <p:spPr>
          <a:xfrm>
            <a:off x="365760" y="1609344"/>
            <a:ext cx="6217920" cy="999744"/>
          </a:xfrm>
          <a:prstGeom prst="rect">
            <a:avLst/>
          </a:prstGeom>
          <a:solidFill>
            <a:srgbClr val="F9F7FF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99A64A07-772F-F2CB-A8AF-384C84BFF865}"/>
              </a:ext>
            </a:extLst>
          </p:cNvPr>
          <p:cNvSpPr/>
          <p:nvPr/>
        </p:nvSpPr>
        <p:spPr>
          <a:xfrm>
            <a:off x="365760" y="1609344"/>
            <a:ext cx="6217920" cy="268224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AC3202C3-EAC1-B10B-AC9E-C16A24D66545}"/>
              </a:ext>
            </a:extLst>
          </p:cNvPr>
          <p:cNvSpPr/>
          <p:nvPr/>
        </p:nvSpPr>
        <p:spPr>
          <a:xfrm>
            <a:off x="358300" y="1633856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</a:t>
            </a:r>
            <a:endParaRPr lang="en-US" sz="100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6DE8CE8A-A8E4-9CEA-5D48-C78A08B930C5}"/>
              </a:ext>
            </a:extLst>
          </p:cNvPr>
          <p:cNvSpPr/>
          <p:nvPr/>
        </p:nvSpPr>
        <p:spPr>
          <a:xfrm>
            <a:off x="463296" y="1901952"/>
            <a:ext cx="6022848" cy="6705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Manual monitoring of a Microsoft 365 tenant is impossible at scale. Governance events sign-ins, file sharing, sensitivity labels, DLP matches  are spread across multiple APIs with no single unified view.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C32CE7E8-87D2-239A-D1A3-979968835D77}"/>
              </a:ext>
            </a:extLst>
          </p:cNvPr>
          <p:cNvSpPr/>
          <p:nvPr/>
        </p:nvSpPr>
        <p:spPr>
          <a:xfrm>
            <a:off x="365760" y="2682240"/>
            <a:ext cx="6217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F1BEE01E-A634-4288-7DCA-A8CF4B117534}"/>
              </a:ext>
            </a:extLst>
          </p:cNvPr>
          <p:cNvSpPr/>
          <p:nvPr/>
        </p:nvSpPr>
        <p:spPr>
          <a:xfrm>
            <a:off x="365760" y="2682240"/>
            <a:ext cx="6217920" cy="268224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9C57DE4B-645B-4443-785F-B61E5FF90979}"/>
              </a:ext>
            </a:extLst>
          </p:cNvPr>
          <p:cNvSpPr/>
          <p:nvPr/>
        </p:nvSpPr>
        <p:spPr>
          <a:xfrm>
            <a:off x="358300" y="2685437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</a:t>
            </a:r>
            <a:endParaRPr lang="en-US" sz="100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7E9A33FF-CD85-7CDE-BFDB-E05675858F73}"/>
              </a:ext>
            </a:extLst>
          </p:cNvPr>
          <p:cNvSpPr/>
          <p:nvPr/>
        </p:nvSpPr>
        <p:spPr>
          <a:xfrm>
            <a:off x="463296" y="2974848"/>
            <a:ext cx="6022848" cy="6096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Project Sentinel automatically extracts governance data daily and delivers a unified Power BI dashboard giving the admin complete visibility with zero manual effort.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3F982896-EF01-D934-9452-83FB6CB8CA0E}"/>
              </a:ext>
            </a:extLst>
          </p:cNvPr>
          <p:cNvSpPr/>
          <p:nvPr/>
        </p:nvSpPr>
        <p:spPr>
          <a:xfrm>
            <a:off x="6766560" y="1609344"/>
            <a:ext cx="5023104" cy="26822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3AFABE8B-2CBC-C04D-2713-538E7719C015}"/>
              </a:ext>
            </a:extLst>
          </p:cNvPr>
          <p:cNvSpPr/>
          <p:nvPr/>
        </p:nvSpPr>
        <p:spPr>
          <a:xfrm>
            <a:off x="6779439" y="1611491"/>
            <a:ext cx="50231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SCREENSHOT: Power BI Tenant Overview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6EC3891-CE58-EB35-ABFD-4248089F44FA}"/>
              </a:ext>
            </a:extLst>
          </p:cNvPr>
          <p:cNvSpPr/>
          <p:nvPr/>
        </p:nvSpPr>
        <p:spPr>
          <a:xfrm>
            <a:off x="6766560" y="1901952"/>
            <a:ext cx="5023104" cy="341376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B390FA25-4AFE-37C2-4289-88096DBDEE8E}"/>
              </a:ext>
            </a:extLst>
          </p:cNvPr>
          <p:cNvSpPr/>
          <p:nvPr/>
        </p:nvSpPr>
        <p:spPr>
          <a:xfrm>
            <a:off x="6768706" y="1893366"/>
            <a:ext cx="5023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Power BI - Tenant Overview Tab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532FD846-5FDD-22B1-7B16-CA5F6A971801}"/>
              </a:ext>
            </a:extLst>
          </p:cNvPr>
          <p:cNvSpPr/>
          <p:nvPr/>
        </p:nvSpPr>
        <p:spPr>
          <a:xfrm>
            <a:off x="6949440" y="4993182"/>
            <a:ext cx="4657344" cy="23053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00" i="1">
                <a:solidFill>
                  <a:srgbClr val="7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26 files · 5 users · 101 high-risk files · 1.2K audit events</a:t>
            </a:r>
            <a:endParaRPr lang="en-US" sz="100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869A6E6-9C70-550C-F218-0407958AC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889" y="2244508"/>
            <a:ext cx="5023253" cy="2638265"/>
          </a:xfrm>
          <a:prstGeom prst="rect">
            <a:avLst/>
          </a:prstGeom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0EA1C119-EBD4-9A8A-083D-2C991A912376}"/>
              </a:ext>
            </a:extLst>
          </p:cNvPr>
          <p:cNvSpPr/>
          <p:nvPr/>
        </p:nvSpPr>
        <p:spPr>
          <a:xfrm>
            <a:off x="360431" y="3774113"/>
            <a:ext cx="6217920" cy="268224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  HOW SENTINEL SOLVE5 IT</a:t>
            </a:r>
            <a:endParaRPr lang="en-US" sz="1000">
              <a:solidFill>
                <a:srgbClr val="FFFFFF"/>
              </a:solidFill>
              <a:latin typeface="Aptos Light"/>
              <a:ea typeface="Calibri"/>
              <a:cs typeface="Calibri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C07D2CC9-C043-7472-2D79-9182CCF915B1}"/>
              </a:ext>
            </a:extLst>
          </p:cNvPr>
          <p:cNvSpPr/>
          <p:nvPr/>
        </p:nvSpPr>
        <p:spPr>
          <a:xfrm>
            <a:off x="370620" y="4045767"/>
            <a:ext cx="6208199" cy="222627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Runs automatically every day at 08:00 AM via Power Automate (no admin action needed)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Connects to 4 Microsoft API surfaces: Graph API, SharePoint REST, Purview, Compliance API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Extracts data through 5 modules: </a:t>
            </a:r>
            <a:r>
              <a:rPr lang="en-US" sz="1400" err="1">
                <a:solidFill>
                  <a:srgbClr val="2D2B55"/>
                </a:solidFill>
                <a:ea typeface="+mn-lt"/>
                <a:cs typeface="+mn-lt"/>
              </a:rPr>
              <a:t>AuditLog</a:t>
            </a: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2D2B55"/>
                </a:solidFill>
                <a:ea typeface="+mn-lt"/>
                <a:cs typeface="+mn-lt"/>
              </a:rPr>
              <a:t>FileMetadata</a:t>
            </a: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2D2B55"/>
                </a:solidFill>
                <a:ea typeface="+mn-lt"/>
                <a:cs typeface="+mn-lt"/>
              </a:rPr>
              <a:t>SharingPermissions</a:t>
            </a: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2D2B55"/>
                </a:solidFill>
                <a:ea typeface="+mn-lt"/>
                <a:cs typeface="+mn-lt"/>
              </a:rPr>
              <a:t>PurviewLabel</a:t>
            </a: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, DLP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Outputs 9 timestamped JSON files per run following Schema v2.0.0 (95 fields, 9 categories)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ea typeface="+mn-lt"/>
                <a:cs typeface="+mn-lt"/>
              </a:rPr>
              <a:t>Power BI dashboard shows: 26 files, 5 users, 101 high-risk files, 1.2K audit events</a:t>
            </a:r>
            <a:endParaRPr lang="en-US"/>
          </a:p>
          <a:p>
            <a:endParaRPr lang="en-US" sz="1400">
              <a:solidFill>
                <a:srgbClr val="2D2B55"/>
              </a:solidFill>
              <a:latin typeface="Calibri"/>
              <a:ea typeface="Calibri"/>
              <a:cs typeface="Calibri"/>
            </a:endParaRPr>
          </a:p>
          <a:p>
            <a:endParaRPr lang="en-US" sz="1400">
              <a:solidFill>
                <a:srgbClr val="2D2B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613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75360" y="121920"/>
            <a:ext cx="292608" cy="292608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1767840" cy="341376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1767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2</a:t>
            </a:r>
            <a:endParaRPr lang="en-US" sz="1133"/>
          </a:p>
        </p:txBody>
      </p:sp>
      <p:sp>
        <p:nvSpPr>
          <p:cNvPr id="7" name="Text 5"/>
          <p:cNvSpPr/>
          <p:nvPr/>
        </p:nvSpPr>
        <p:spPr>
          <a:xfrm>
            <a:off x="365760" y="560832"/>
            <a:ext cx="792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i="1">
                <a:solidFill>
                  <a:srgbClr val="5B4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Analyst</a:t>
            </a:r>
            <a:endParaRPr lang="en-US" sz="3733"/>
          </a:p>
        </p:txBody>
      </p:sp>
      <p:sp>
        <p:nvSpPr>
          <p:cNvPr id="8" name="Shape 6"/>
          <p:cNvSpPr/>
          <p:nvPr/>
        </p:nvSpPr>
        <p:spPr>
          <a:xfrm>
            <a:off x="365760" y="1194816"/>
            <a:ext cx="2316480" cy="292608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94816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Security Analyst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04160" y="1194816"/>
            <a:ext cx="890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Identifying risky sharing activities and governance violations across the tenant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6217920" cy="950976"/>
          </a:xfrm>
          <a:prstGeom prst="rect">
            <a:avLst/>
          </a:prstGeom>
          <a:solidFill>
            <a:srgbClr val="F9F7FF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09344"/>
            <a:ext cx="6217920" cy="268224"/>
          </a:xfrm>
          <a:prstGeom prst="rect">
            <a:avLst/>
          </a:prstGeom>
          <a:solidFill>
            <a:schemeClr val="accent5">
              <a:lumMod val="25000"/>
            </a:schemeClr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9344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63296" y="1901952"/>
            <a:ext cx="6022848" cy="6096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2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No automated way to detect risky sharing, missing sensitivity labels, or governance violations. Sprint 5 found 100% of files </a:t>
            </a:r>
            <a:r>
              <a:rPr lang="en-US" sz="120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unlabelled</a:t>
            </a:r>
            <a:r>
              <a:rPr lang="en-US" sz="12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 and all shared without access boundaries  flagged HIGH RISK.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1975104" cy="829056"/>
          </a:xfrm>
          <a:prstGeom prst="rect">
            <a:avLst/>
          </a:prstGeom>
          <a:solidFill>
            <a:srgbClr val="F9F7FF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33472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200" b="1">
                <a:solidFill>
                  <a:srgbClr val="8B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365760" y="3121152"/>
            <a:ext cx="1975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8B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+ No Expiry</a:t>
            </a:r>
            <a:endParaRPr lang="en-US" sz="933"/>
          </a:p>
        </p:txBody>
      </p:sp>
      <p:sp>
        <p:nvSpPr>
          <p:cNvPr id="18" name="Shape 16"/>
          <p:cNvSpPr/>
          <p:nvPr/>
        </p:nvSpPr>
        <p:spPr>
          <a:xfrm>
            <a:off x="2487168" y="2633472"/>
            <a:ext cx="1975104" cy="8290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633472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200" b="1">
                <a:solidFill>
                  <a:srgbClr val="7A5C00"/>
                </a:solidFill>
                <a:latin typeface="Georgia"/>
              </a:rPr>
              <a:t>15</a:t>
            </a:r>
          </a:p>
        </p:txBody>
      </p:sp>
      <p:sp>
        <p:nvSpPr>
          <p:cNvPr id="20" name="Text 18"/>
          <p:cNvSpPr/>
          <p:nvPr/>
        </p:nvSpPr>
        <p:spPr>
          <a:xfrm>
            <a:off x="2487168" y="3121152"/>
            <a:ext cx="1975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Label</a:t>
            </a:r>
            <a:endParaRPr lang="en-US" sz="933"/>
          </a:p>
        </p:txBody>
      </p:sp>
      <p:sp>
        <p:nvSpPr>
          <p:cNvPr id="21" name="Shape 19"/>
          <p:cNvSpPr/>
          <p:nvPr/>
        </p:nvSpPr>
        <p:spPr>
          <a:xfrm>
            <a:off x="4608576" y="2633472"/>
            <a:ext cx="1975104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2633472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200" b="1">
                <a:solidFill>
                  <a:srgbClr val="217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3200"/>
          </a:p>
        </p:txBody>
      </p:sp>
      <p:sp>
        <p:nvSpPr>
          <p:cNvPr id="23" name="Text 21"/>
          <p:cNvSpPr/>
          <p:nvPr/>
        </p:nvSpPr>
        <p:spPr>
          <a:xfrm>
            <a:off x="4608576" y="3121152"/>
            <a:ext cx="1975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21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Files</a:t>
            </a:r>
            <a:endParaRPr lang="en-US" sz="933"/>
          </a:p>
        </p:txBody>
      </p:sp>
      <p:sp>
        <p:nvSpPr>
          <p:cNvPr id="24" name="Shape 22"/>
          <p:cNvSpPr/>
          <p:nvPr/>
        </p:nvSpPr>
        <p:spPr>
          <a:xfrm>
            <a:off x="365760" y="3535680"/>
            <a:ext cx="621792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35680"/>
            <a:ext cx="6217920" cy="268224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35680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463296" y="3828288"/>
            <a:ext cx="602284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2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Sentinel identifies risks: anonymous links (+40), missing labels (+15), external write access (+20)  surfaced instantly in the dashboard for analyst action.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766560" y="1609344"/>
            <a:ext cx="5023104" cy="26822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1609344"/>
            <a:ext cx="50231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SCREENSHOT: Power BI Governance &amp; Compliance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766560" y="1901952"/>
            <a:ext cx="5023104" cy="341376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901952"/>
            <a:ext cx="5023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Power BI  Governance &amp; Compliance Tab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2700C47-13FF-19C7-0D5B-EEF141BBB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0" y="2245879"/>
            <a:ext cx="5023104" cy="3155987"/>
          </a:xfrm>
          <a:prstGeom prst="rect">
            <a:avLst/>
          </a:prstGeom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F761C890-9437-B062-81B6-22DD5BF8D45F}"/>
              </a:ext>
            </a:extLst>
          </p:cNvPr>
          <p:cNvSpPr/>
          <p:nvPr/>
        </p:nvSpPr>
        <p:spPr>
          <a:xfrm>
            <a:off x="371164" y="4418057"/>
            <a:ext cx="6217920" cy="268224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  </a:t>
            </a: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GOVERNANCE EXPOSURE BREAKDOWN</a:t>
            </a:r>
            <a:endParaRPr lang="en-US" sz="1000">
              <a:solidFill>
                <a:srgbClr val="FFFFFF"/>
              </a:solidFill>
              <a:latin typeface="Aptos Light"/>
              <a:ea typeface="Calibri"/>
              <a:cs typeface="Calibri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E2871662-034C-4AE6-4957-2912EE162FC9}"/>
              </a:ext>
            </a:extLst>
          </p:cNvPr>
          <p:cNvSpPr/>
          <p:nvPr/>
        </p:nvSpPr>
        <p:spPr>
          <a:xfrm>
            <a:off x="381353" y="4689711"/>
            <a:ext cx="6208199" cy="1854307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just"/>
            <a:endParaRPr lang="en-US" sz="1400" b="1">
              <a:solidFill>
                <a:srgbClr val="2D2B55"/>
              </a:solidFill>
              <a:latin typeface="Arial"/>
              <a:ea typeface="Calibri"/>
              <a:cs typeface="Arial"/>
            </a:endParaRPr>
          </a:p>
          <a:p>
            <a:pPr lvl="1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latin typeface="Arial"/>
                <a:ea typeface="Calibri"/>
                <a:cs typeface="Arial"/>
              </a:rPr>
              <a:t>Internal: 267 files (65.44%) Medium Risk (limited control)</a:t>
            </a:r>
            <a:endParaRPr lang="en-US" sz="1400"/>
          </a:p>
          <a:p>
            <a:pPr lvl="1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latin typeface="Arial"/>
                <a:ea typeface="Calibri"/>
                <a:cs typeface="Arial"/>
              </a:rPr>
              <a:t>Editable: 101 files (24.75%) High Risk (external exposure)</a:t>
            </a:r>
            <a:endParaRPr lang="en-US" sz="1400"/>
          </a:p>
          <a:p>
            <a:pPr lvl="1" algn="just">
              <a:buFont typeface="Arial"/>
              <a:buChar char="•"/>
            </a:pPr>
            <a:r>
              <a:rPr lang="en-US" sz="1400">
                <a:solidFill>
                  <a:srgbClr val="2D2B55"/>
                </a:solidFill>
                <a:latin typeface="Arial"/>
                <a:ea typeface="Calibri"/>
                <a:cs typeface="Arial"/>
              </a:rPr>
              <a:t>Restricted: 40 files (9.8%)  Low Risk (controlled access)</a:t>
            </a:r>
            <a:endParaRPr lang="en-US" sz="1400"/>
          </a:p>
          <a:p>
            <a:pPr algn="just">
              <a:buFont typeface="Arial,Sans-Serif"/>
              <a:buChar char="•"/>
            </a:pPr>
            <a:endParaRPr lang="en-US"/>
          </a:p>
          <a:p>
            <a:pPr marL="285750" indent="-285750" algn="just">
              <a:buFont typeface="Arial"/>
              <a:buChar char="•"/>
            </a:pPr>
            <a:endParaRPr lang="en-US"/>
          </a:p>
          <a:p>
            <a:endParaRPr lang="en-US" sz="1400">
              <a:solidFill>
                <a:srgbClr val="2D2B55"/>
              </a:solidFill>
              <a:latin typeface="Calibri"/>
              <a:ea typeface="Calibri"/>
              <a:cs typeface="Calibri"/>
            </a:endParaRPr>
          </a:p>
          <a:p>
            <a:endParaRPr lang="en-US" sz="1400">
              <a:solidFill>
                <a:srgbClr val="2D2B55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19198-C503-4E98-B828-DFABF56A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DF8A525A-426D-5D9D-D875-50C52A973F9B}"/>
              </a:ext>
            </a:extLst>
          </p:cNvPr>
          <p:cNvSpPr/>
          <p:nvPr/>
        </p:nvSpPr>
        <p:spPr>
          <a:xfrm>
            <a:off x="975360" y="121920"/>
            <a:ext cx="292608" cy="292608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59EF468-B689-28EC-D153-2B13DE075BE8}"/>
              </a:ext>
            </a:extLst>
          </p:cNvPr>
          <p:cNvSpPr/>
          <p:nvPr/>
        </p:nvSpPr>
        <p:spPr>
          <a:xfrm>
            <a:off x="365760" y="182880"/>
            <a:ext cx="1767840" cy="341376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7BBCE69-0790-37EF-9C54-4B2205AB50DC}"/>
              </a:ext>
            </a:extLst>
          </p:cNvPr>
          <p:cNvSpPr/>
          <p:nvPr/>
        </p:nvSpPr>
        <p:spPr>
          <a:xfrm>
            <a:off x="367907" y="185026"/>
            <a:ext cx="1767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3</a:t>
            </a:r>
            <a:endParaRPr lang="en-US" sz="1133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3CE3ED62-C706-C352-AB45-2AE02F77C76C}"/>
              </a:ext>
            </a:extLst>
          </p:cNvPr>
          <p:cNvSpPr/>
          <p:nvPr/>
        </p:nvSpPr>
        <p:spPr>
          <a:xfrm>
            <a:off x="365760" y="560832"/>
            <a:ext cx="792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i="1">
                <a:solidFill>
                  <a:srgbClr val="5B4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Officer</a:t>
            </a:r>
            <a:endParaRPr lang="en-US" sz="3733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409FEF4C-A6AC-0F24-0108-C316F2870818}"/>
              </a:ext>
            </a:extLst>
          </p:cNvPr>
          <p:cNvSpPr/>
          <p:nvPr/>
        </p:nvSpPr>
        <p:spPr>
          <a:xfrm>
            <a:off x="365760" y="1194816"/>
            <a:ext cx="2316480" cy="292608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94B10A7B-F64A-6E25-9491-0EE052E37F1A}"/>
              </a:ext>
            </a:extLst>
          </p:cNvPr>
          <p:cNvSpPr/>
          <p:nvPr/>
        </p:nvSpPr>
        <p:spPr>
          <a:xfrm>
            <a:off x="367906" y="1196962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  Compliance Officer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2E533CF-739F-658C-256F-C58872D16819}"/>
              </a:ext>
            </a:extLst>
          </p:cNvPr>
          <p:cNvSpPr/>
          <p:nvPr/>
        </p:nvSpPr>
        <p:spPr>
          <a:xfrm>
            <a:off x="2804160" y="1194816"/>
            <a:ext cx="890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i="1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Organisation requires visibility into compliance controls and data protection measures</a:t>
            </a:r>
            <a:endParaRPr lang="en-US" sz="1067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73156E2C-A4CD-51B3-FE60-567FC79EC347}"/>
              </a:ext>
            </a:extLst>
          </p:cNvPr>
          <p:cNvSpPr/>
          <p:nvPr/>
        </p:nvSpPr>
        <p:spPr>
          <a:xfrm>
            <a:off x="365760" y="1609344"/>
            <a:ext cx="6217920" cy="950976"/>
          </a:xfrm>
          <a:prstGeom prst="rect">
            <a:avLst/>
          </a:prstGeom>
          <a:solidFill>
            <a:srgbClr val="F5E6E8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7DE8E07F-BB3C-C262-8376-DF91A0BC0703}"/>
              </a:ext>
            </a:extLst>
          </p:cNvPr>
          <p:cNvSpPr/>
          <p:nvPr/>
        </p:nvSpPr>
        <p:spPr>
          <a:xfrm>
            <a:off x="365760" y="1609344"/>
            <a:ext cx="6217920" cy="268224"/>
          </a:xfrm>
          <a:prstGeom prst="rect">
            <a:avLst/>
          </a:prstGeom>
          <a:solidFill>
            <a:srgbClr val="8B2040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94B72CD-D027-6E8F-DA2E-AED42BA2CC3E}"/>
              </a:ext>
            </a:extLst>
          </p:cNvPr>
          <p:cNvSpPr/>
          <p:nvPr/>
        </p:nvSpPr>
        <p:spPr>
          <a:xfrm>
            <a:off x="357174" y="1611490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</a:t>
            </a:r>
            <a:endParaRPr lang="en-US" sz="100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D3D5CB09-4687-6D22-64CA-355F4E23064D}"/>
              </a:ext>
            </a:extLst>
          </p:cNvPr>
          <p:cNvSpPr/>
          <p:nvPr/>
        </p:nvSpPr>
        <p:spPr>
          <a:xfrm>
            <a:off x="463296" y="1901952"/>
            <a:ext cx="6022848" cy="6096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00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lack a consolidated view of DLP policy activity, sensitivity label coverage, and data protection status. Manual audits are time-consuming and leave evidence gaps.</a:t>
            </a:r>
            <a:endParaRPr lang="en-US" sz="100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AD19F9B7-0A3B-F14D-2BD1-F001E5F03E77}"/>
              </a:ext>
            </a:extLst>
          </p:cNvPr>
          <p:cNvSpPr/>
          <p:nvPr/>
        </p:nvSpPr>
        <p:spPr>
          <a:xfrm>
            <a:off x="365760" y="2633472"/>
            <a:ext cx="6217920" cy="268224"/>
          </a:xfrm>
          <a:prstGeom prst="rect">
            <a:avLst/>
          </a:prstGeom>
          <a:solidFill>
            <a:srgbClr val="7B6FE0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92AE307E-8161-B7AC-042E-4D58EC45B55A}"/>
              </a:ext>
            </a:extLst>
          </p:cNvPr>
          <p:cNvSpPr/>
          <p:nvPr/>
        </p:nvSpPr>
        <p:spPr>
          <a:xfrm>
            <a:off x="357174" y="2635618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 STATUS</a:t>
            </a:r>
            <a:endParaRPr lang="en-US" sz="100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C6496A99-51E5-F4EA-B351-941E41CDC118}"/>
              </a:ext>
            </a:extLst>
          </p:cNvPr>
          <p:cNvSpPr/>
          <p:nvPr/>
        </p:nvSpPr>
        <p:spPr>
          <a:xfrm>
            <a:off x="365760" y="2950464"/>
            <a:ext cx="6217920" cy="316992"/>
          </a:xfrm>
          <a:prstGeom prst="rect">
            <a:avLst/>
          </a:prstGeom>
          <a:solidFill>
            <a:srgbClr val="D6EFEA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36404E71-84A7-D360-94FF-358228E81A15}"/>
              </a:ext>
            </a:extLst>
          </p:cNvPr>
          <p:cNvSpPr/>
          <p:nvPr/>
        </p:nvSpPr>
        <p:spPr>
          <a:xfrm>
            <a:off x="512064" y="2950464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12B1B211-64F3-0857-AD37-584F68D9FE5C}"/>
              </a:ext>
            </a:extLst>
          </p:cNvPr>
          <p:cNvSpPr/>
          <p:nvPr/>
        </p:nvSpPr>
        <p:spPr>
          <a:xfrm>
            <a:off x="4267200" y="2950464"/>
            <a:ext cx="2255520" cy="31699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r"/>
            <a:r>
              <a:rPr lang="en-US" sz="933" b="1">
                <a:solidFill>
                  <a:srgbClr val="21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33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E969A933-3040-D272-F348-D5D2B39887FF}"/>
              </a:ext>
            </a:extLst>
          </p:cNvPr>
          <p:cNvSpPr/>
          <p:nvPr/>
        </p:nvSpPr>
        <p:spPr>
          <a:xfrm>
            <a:off x="365760" y="3316224"/>
            <a:ext cx="6217920" cy="316992"/>
          </a:xfrm>
          <a:prstGeom prst="rect">
            <a:avLst/>
          </a:prstGeom>
          <a:solidFill>
            <a:srgbClr val="FFF3CD"/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272F8789-D839-22EF-AEF5-27AA72466EDF}"/>
              </a:ext>
            </a:extLst>
          </p:cNvPr>
          <p:cNvSpPr/>
          <p:nvPr/>
        </p:nvSpPr>
        <p:spPr>
          <a:xfrm>
            <a:off x="512064" y="3316224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(Sentinel-Teams-DLP-Policy)</a:t>
            </a:r>
            <a:endParaRPr lang="en-US" sz="100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99054500-6A65-AA3A-E899-F0A97DA54910}"/>
              </a:ext>
            </a:extLst>
          </p:cNvPr>
          <p:cNvSpPr/>
          <p:nvPr/>
        </p:nvSpPr>
        <p:spPr>
          <a:xfrm>
            <a:off x="4267200" y="3316224"/>
            <a:ext cx="2255520" cy="31699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r"/>
            <a:r>
              <a:rPr lang="en-US" sz="900" b="1">
                <a:solidFill>
                  <a:srgbClr val="7A5C00"/>
                </a:solidFill>
                <a:latin typeface="Calibri"/>
                <a:ea typeface="Calibri"/>
                <a:cs typeface="Calibri"/>
              </a:rPr>
              <a:t>ACTIVE  SIM MODE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C614B1C7-9B99-428E-70B5-18F114158F9F}"/>
              </a:ext>
            </a:extLst>
          </p:cNvPr>
          <p:cNvSpPr/>
          <p:nvPr/>
        </p:nvSpPr>
        <p:spPr>
          <a:xfrm>
            <a:off x="365760" y="3681984"/>
            <a:ext cx="6217920" cy="316992"/>
          </a:xfrm>
          <a:prstGeom prst="rect">
            <a:avLst/>
          </a:prstGeom>
          <a:solidFill>
            <a:srgbClr val="F5E6E8"/>
          </a:solidFill>
          <a:ln w="12700">
            <a:solidFill>
              <a:srgbClr val="8B2040"/>
            </a:solidFill>
            <a:prstDash val="solid"/>
          </a:ln>
        </p:spPr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12BCB4ED-5B9F-52C9-880D-BB9B9F7FB6DB}"/>
              </a:ext>
            </a:extLst>
          </p:cNvPr>
          <p:cNvSpPr/>
          <p:nvPr/>
        </p:nvSpPr>
        <p:spPr>
          <a:xfrm>
            <a:off x="512064" y="3681984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</a:t>
            </a:r>
            <a:endParaRPr lang="en-US" sz="100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10AE3754-7403-2262-2AC9-772BD123311C}"/>
              </a:ext>
            </a:extLst>
          </p:cNvPr>
          <p:cNvSpPr/>
          <p:nvPr/>
        </p:nvSpPr>
        <p:spPr>
          <a:xfrm>
            <a:off x="4267200" y="3681984"/>
            <a:ext cx="2255520" cy="31699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r"/>
            <a:r>
              <a:rPr lang="en-US" sz="900" b="1">
                <a:solidFill>
                  <a:srgbClr val="8B2040"/>
                </a:solidFill>
                <a:latin typeface="Calibri"/>
                <a:ea typeface="Calibri"/>
                <a:cs typeface="Calibri"/>
              </a:rPr>
              <a:t>0% COVERAGE  26/26 FILES UNLABELLED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D25CA3DE-FE9E-4E84-A550-595A2F1D04C3}"/>
              </a:ext>
            </a:extLst>
          </p:cNvPr>
          <p:cNvSpPr/>
          <p:nvPr/>
        </p:nvSpPr>
        <p:spPr>
          <a:xfrm>
            <a:off x="365760" y="4047744"/>
            <a:ext cx="6217920" cy="316992"/>
          </a:xfrm>
          <a:prstGeom prst="rect">
            <a:avLst/>
          </a:prstGeom>
          <a:solidFill>
            <a:srgbClr val="D6EFEA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D2F342A8-4FBA-2483-FEF7-A61BA461CA58}"/>
              </a:ext>
            </a:extLst>
          </p:cNvPr>
          <p:cNvSpPr/>
          <p:nvPr/>
        </p:nvSpPr>
        <p:spPr>
          <a:xfrm>
            <a:off x="512064" y="4047744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Envelope</a:t>
            </a:r>
            <a:endParaRPr lang="en-US" sz="100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BD73D3DD-9D55-C059-9C4E-2C22D6C30CA5}"/>
              </a:ext>
            </a:extLst>
          </p:cNvPr>
          <p:cNvSpPr/>
          <p:nvPr/>
        </p:nvSpPr>
        <p:spPr>
          <a:xfrm>
            <a:off x="4267200" y="4047744"/>
            <a:ext cx="2255520" cy="31699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r"/>
            <a:r>
              <a:rPr lang="en-US" sz="933" b="1">
                <a:solidFill>
                  <a:srgbClr val="21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OUTPUT FILES</a:t>
            </a:r>
            <a:endParaRPr lang="en-US" sz="933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058E76FB-EFAC-9283-2901-3D4029289750}"/>
              </a:ext>
            </a:extLst>
          </p:cNvPr>
          <p:cNvSpPr/>
          <p:nvPr/>
        </p:nvSpPr>
        <p:spPr>
          <a:xfrm>
            <a:off x="365760" y="4462272"/>
            <a:ext cx="6217920" cy="792480"/>
          </a:xfrm>
          <a:prstGeom prst="rect">
            <a:avLst/>
          </a:prstGeom>
          <a:solidFill>
            <a:srgbClr val="D6EFEA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2843319E-3E10-DD98-4106-113839B0893B}"/>
              </a:ext>
            </a:extLst>
          </p:cNvPr>
          <p:cNvSpPr/>
          <p:nvPr/>
        </p:nvSpPr>
        <p:spPr>
          <a:xfrm>
            <a:off x="365760" y="4462272"/>
            <a:ext cx="6217920" cy="268224"/>
          </a:xfrm>
          <a:prstGeom prst="rect">
            <a:avLst/>
          </a:prstGeom>
          <a:solidFill>
            <a:srgbClr val="217367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50A30935-C566-A82A-4E6D-B39621DDA9C1}"/>
              </a:ext>
            </a:extLst>
          </p:cNvPr>
          <p:cNvSpPr/>
          <p:nvPr/>
        </p:nvSpPr>
        <p:spPr>
          <a:xfrm>
            <a:off x="357174" y="4453686"/>
            <a:ext cx="6217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</a:t>
            </a:r>
            <a:endParaRPr lang="en-US" sz="1000"/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DAB0460D-A1B5-C3C1-F382-E7AF01DC2524}"/>
              </a:ext>
            </a:extLst>
          </p:cNvPr>
          <p:cNvSpPr/>
          <p:nvPr/>
        </p:nvSpPr>
        <p:spPr>
          <a:xfrm>
            <a:off x="463296" y="4754880"/>
            <a:ext cx="6022848" cy="463296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00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provides auditable evidence: DLP detected an Australia Tax File Number on 31 May 2026, provenance envelope on every JSON output, Compliance Visibility dashboard tab.</a:t>
            </a:r>
            <a:endParaRPr lang="en-US" sz="1000"/>
          </a:p>
        </p:txBody>
      </p:sp>
      <p:sp>
        <p:nvSpPr>
          <p:cNvPr id="75" name="Shape 41">
            <a:extLst>
              <a:ext uri="{FF2B5EF4-FFF2-40B4-BE49-F238E27FC236}">
                <a16:creationId xmlns:a16="http://schemas.microsoft.com/office/drawing/2014/main" id="{63A0C3FE-9E75-2489-C334-6CF49ED8AAE0}"/>
              </a:ext>
            </a:extLst>
          </p:cNvPr>
          <p:cNvSpPr/>
          <p:nvPr/>
        </p:nvSpPr>
        <p:spPr>
          <a:xfrm>
            <a:off x="6766560" y="1609344"/>
            <a:ext cx="5023104" cy="26822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44C98132-8C6C-97F5-8DCA-E1FFAEE1B81E}"/>
              </a:ext>
            </a:extLst>
          </p:cNvPr>
          <p:cNvSpPr/>
          <p:nvPr/>
        </p:nvSpPr>
        <p:spPr>
          <a:xfrm>
            <a:off x="6790171" y="1622223"/>
            <a:ext cx="50231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SCREENSHOT: DLP Alert Email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9" name="Shape 43">
            <a:extLst>
              <a:ext uri="{FF2B5EF4-FFF2-40B4-BE49-F238E27FC236}">
                <a16:creationId xmlns:a16="http://schemas.microsoft.com/office/drawing/2014/main" id="{3196E917-A717-3B00-EF5A-1ED8218ED603}"/>
              </a:ext>
            </a:extLst>
          </p:cNvPr>
          <p:cNvSpPr/>
          <p:nvPr/>
        </p:nvSpPr>
        <p:spPr>
          <a:xfrm>
            <a:off x="6766560" y="1901952"/>
            <a:ext cx="5023104" cy="4389120"/>
          </a:xfrm>
          <a:prstGeom prst="rect">
            <a:avLst/>
          </a:prstGeom>
          <a:solidFill>
            <a:srgbClr val="F0EEF9"/>
          </a:solidFill>
          <a:ln w="12700">
            <a:solidFill>
              <a:srgbClr val="7B6FE0"/>
            </a:solidFill>
            <a:prstDash val="dash"/>
          </a:ln>
        </p:spPr>
      </p:sp>
      <p:sp>
        <p:nvSpPr>
          <p:cNvPr id="81" name="Shape 44">
            <a:extLst>
              <a:ext uri="{FF2B5EF4-FFF2-40B4-BE49-F238E27FC236}">
                <a16:creationId xmlns:a16="http://schemas.microsoft.com/office/drawing/2014/main" id="{5B575E1E-A850-34FA-1121-98E0CF1F219B}"/>
              </a:ext>
            </a:extLst>
          </p:cNvPr>
          <p:cNvSpPr/>
          <p:nvPr/>
        </p:nvSpPr>
        <p:spPr>
          <a:xfrm>
            <a:off x="6766560" y="1901952"/>
            <a:ext cx="5023104" cy="341376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83" name="Text 45">
            <a:extLst>
              <a:ext uri="{FF2B5EF4-FFF2-40B4-BE49-F238E27FC236}">
                <a16:creationId xmlns:a16="http://schemas.microsoft.com/office/drawing/2014/main" id="{92EC431D-B2E7-6C03-7E61-059909213D47}"/>
              </a:ext>
            </a:extLst>
          </p:cNvPr>
          <p:cNvSpPr/>
          <p:nvPr/>
        </p:nvSpPr>
        <p:spPr>
          <a:xfrm>
            <a:off x="6779439" y="1893366"/>
            <a:ext cx="50231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DLP Alert  Office365Alerts@microsoft.com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pic>
        <p:nvPicPr>
          <p:cNvPr id="87" name="Content Placeholder 1">
            <a:extLst>
              <a:ext uri="{FF2B5EF4-FFF2-40B4-BE49-F238E27FC236}">
                <a16:creationId xmlns:a16="http://schemas.microsoft.com/office/drawing/2014/main" id="{9989E695-FE6F-A98B-7556-D234AB3F5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239" y="2250394"/>
            <a:ext cx="5025754" cy="40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9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75360" y="121920"/>
            <a:ext cx="292608" cy="292608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1767840" cy="341376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1767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4</a:t>
            </a:r>
            <a:endParaRPr lang="en-US" sz="1133"/>
          </a:p>
        </p:txBody>
      </p:sp>
      <p:sp>
        <p:nvSpPr>
          <p:cNvPr id="7" name="Text 5"/>
          <p:cNvSpPr/>
          <p:nvPr/>
        </p:nvSpPr>
        <p:spPr>
          <a:xfrm>
            <a:off x="365760" y="560832"/>
            <a:ext cx="792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i="1">
                <a:solidFill>
                  <a:srgbClr val="5B4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Governance</a:t>
            </a:r>
            <a:endParaRPr lang="en-US" sz="3733"/>
          </a:p>
        </p:txBody>
      </p:sp>
      <p:sp>
        <p:nvSpPr>
          <p:cNvPr id="8" name="Shape 6"/>
          <p:cNvSpPr/>
          <p:nvPr/>
        </p:nvSpPr>
        <p:spPr>
          <a:xfrm>
            <a:off x="365760" y="1194816"/>
            <a:ext cx="2316480" cy="292608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94816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 err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Organisation</a:t>
            </a:r>
            <a:endParaRPr lang="en-US" sz="105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04160" y="1194816"/>
            <a:ext cx="890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chemeClr val="accent4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Most Complex Story  Problem: Manual monitoring is time-consuming and inconsistent</a:t>
            </a:r>
            <a:endParaRPr lang="en-US">
              <a:solidFill>
                <a:schemeClr val="accent4">
                  <a:lumMod val="1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70720" y="182880"/>
            <a:ext cx="2194560" cy="341376"/>
          </a:xfrm>
          <a:prstGeom prst="roundRect">
            <a:avLst>
              <a:gd name="adj" fmla="val 50000"/>
            </a:avLst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0720" y="182880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Complex Story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95316" y="1548384"/>
            <a:ext cx="11460480" cy="268224"/>
          </a:xfrm>
          <a:prstGeom prst="rect">
            <a:avLst/>
          </a:prstGeom>
          <a:solidFill>
            <a:srgbClr val="3D3480"/>
          </a:solidFill>
          <a:ln w="12700">
            <a:solidFill>
              <a:srgbClr val="3D3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5316" y="1534714"/>
            <a:ext cx="11460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PIPELINE -No Manual Intervention Required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85216" y="1926336"/>
            <a:ext cx="2121408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1926336"/>
            <a:ext cx="2121408" cy="7315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743456"/>
            <a:ext cx="365760" cy="3657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743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33"/>
          </a:p>
        </p:txBody>
      </p:sp>
      <p:sp>
        <p:nvSpPr>
          <p:cNvPr id="19" name="Text 17"/>
          <p:cNvSpPr/>
          <p:nvPr/>
        </p:nvSpPr>
        <p:spPr>
          <a:xfrm>
            <a:off x="585216" y="2048256"/>
            <a:ext cx="2121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067"/>
          </a:p>
        </p:txBody>
      </p:sp>
      <p:sp>
        <p:nvSpPr>
          <p:cNvPr id="20" name="Text 18"/>
          <p:cNvSpPr/>
          <p:nvPr/>
        </p:nvSpPr>
        <p:spPr>
          <a:xfrm>
            <a:off x="58521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9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08:00 AM</a:t>
            </a:r>
            <a:endParaRPr lang="en-US" sz="933"/>
          </a:p>
        </p:txBody>
      </p:sp>
      <p:sp>
        <p:nvSpPr>
          <p:cNvPr id="21" name="Shape 19"/>
          <p:cNvSpPr/>
          <p:nvPr/>
        </p:nvSpPr>
        <p:spPr>
          <a:xfrm>
            <a:off x="2718816" y="2426208"/>
            <a:ext cx="79248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10256" y="1926336"/>
            <a:ext cx="2121408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0256" y="1926336"/>
            <a:ext cx="2121408" cy="7315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88080" y="1743456"/>
            <a:ext cx="365760" cy="3657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8080" y="1743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33"/>
          </a:p>
        </p:txBody>
      </p:sp>
      <p:sp>
        <p:nvSpPr>
          <p:cNvPr id="26" name="Text 24"/>
          <p:cNvSpPr/>
          <p:nvPr/>
        </p:nvSpPr>
        <p:spPr>
          <a:xfrm>
            <a:off x="2810256" y="2048256"/>
            <a:ext cx="2121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Auth</a:t>
            </a:r>
            <a:endParaRPr lang="en-US" sz="1067"/>
          </a:p>
        </p:txBody>
      </p:sp>
      <p:sp>
        <p:nvSpPr>
          <p:cNvPr id="27" name="Text 25"/>
          <p:cNvSpPr/>
          <p:nvPr/>
        </p:nvSpPr>
        <p:spPr>
          <a:xfrm>
            <a:off x="281025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9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non-interactive</a:t>
            </a:r>
            <a:endParaRPr lang="en-US" sz="933"/>
          </a:p>
        </p:txBody>
      </p:sp>
      <p:sp>
        <p:nvSpPr>
          <p:cNvPr id="28" name="Shape 26"/>
          <p:cNvSpPr/>
          <p:nvPr/>
        </p:nvSpPr>
        <p:spPr>
          <a:xfrm>
            <a:off x="4943856" y="2426208"/>
            <a:ext cx="79248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35296" y="1926336"/>
            <a:ext cx="2121408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35296" y="1926336"/>
            <a:ext cx="2121408" cy="7315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3120" y="1743456"/>
            <a:ext cx="365760" cy="3657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13120" y="1743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33"/>
          </a:p>
        </p:txBody>
      </p:sp>
      <p:sp>
        <p:nvSpPr>
          <p:cNvPr id="33" name="Text 31"/>
          <p:cNvSpPr/>
          <p:nvPr/>
        </p:nvSpPr>
        <p:spPr>
          <a:xfrm>
            <a:off x="5035296" y="2048256"/>
            <a:ext cx="2121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Extractors</a:t>
            </a:r>
            <a:endParaRPr lang="en-US" sz="1067"/>
          </a:p>
        </p:txBody>
      </p:sp>
      <p:sp>
        <p:nvSpPr>
          <p:cNvPr id="34" name="Text 32"/>
          <p:cNvSpPr/>
          <p:nvPr/>
        </p:nvSpPr>
        <p:spPr>
          <a:xfrm>
            <a:off x="503529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9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SharePoint / Purview</a:t>
            </a:r>
            <a:endParaRPr lang="en-US" sz="933"/>
          </a:p>
        </p:txBody>
      </p:sp>
      <p:sp>
        <p:nvSpPr>
          <p:cNvPr id="35" name="Shape 33"/>
          <p:cNvSpPr/>
          <p:nvPr/>
        </p:nvSpPr>
        <p:spPr>
          <a:xfrm>
            <a:off x="7168896" y="2426208"/>
            <a:ext cx="79248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1926336"/>
            <a:ext cx="2121408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0336" y="1926336"/>
            <a:ext cx="2121408" cy="7315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743456"/>
            <a:ext cx="365760" cy="3657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1743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33"/>
          </a:p>
        </p:txBody>
      </p:sp>
      <p:sp>
        <p:nvSpPr>
          <p:cNvPr id="40" name="Text 38"/>
          <p:cNvSpPr/>
          <p:nvPr/>
        </p:nvSpPr>
        <p:spPr>
          <a:xfrm>
            <a:off x="7260336" y="2048256"/>
            <a:ext cx="2121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JSON Outputs</a:t>
            </a:r>
            <a:endParaRPr lang="en-US" sz="1067"/>
          </a:p>
        </p:txBody>
      </p:sp>
      <p:sp>
        <p:nvSpPr>
          <p:cNvPr id="41" name="Text 39"/>
          <p:cNvSpPr/>
          <p:nvPr/>
        </p:nvSpPr>
        <p:spPr>
          <a:xfrm>
            <a:off x="726033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9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v2.0.0 + provenance</a:t>
            </a:r>
            <a:endParaRPr lang="en-US" sz="933"/>
          </a:p>
        </p:txBody>
      </p:sp>
      <p:sp>
        <p:nvSpPr>
          <p:cNvPr id="42" name="Shape 40"/>
          <p:cNvSpPr/>
          <p:nvPr/>
        </p:nvSpPr>
        <p:spPr>
          <a:xfrm>
            <a:off x="9393936" y="2426208"/>
            <a:ext cx="79248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85376" y="1926336"/>
            <a:ext cx="2121408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376" y="1926336"/>
            <a:ext cx="2121408" cy="7315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63200" y="1743456"/>
            <a:ext cx="365760" cy="3657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63200" y="1743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33"/>
          </a:p>
        </p:txBody>
      </p:sp>
      <p:sp>
        <p:nvSpPr>
          <p:cNvPr id="47" name="Text 45"/>
          <p:cNvSpPr/>
          <p:nvPr/>
        </p:nvSpPr>
        <p:spPr>
          <a:xfrm>
            <a:off x="9485376" y="2048256"/>
            <a:ext cx="2121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67"/>
          </a:p>
        </p:txBody>
      </p:sp>
      <p:sp>
        <p:nvSpPr>
          <p:cNvPr id="48" name="Text 46"/>
          <p:cNvSpPr/>
          <p:nvPr/>
        </p:nvSpPr>
        <p:spPr>
          <a:xfrm>
            <a:off x="948537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9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governance dashboard</a:t>
            </a:r>
            <a:endParaRPr lang="en-US" sz="933"/>
          </a:p>
        </p:txBody>
      </p:sp>
      <p:sp>
        <p:nvSpPr>
          <p:cNvPr id="49" name="Shape 47"/>
          <p:cNvSpPr/>
          <p:nvPr/>
        </p:nvSpPr>
        <p:spPr>
          <a:xfrm>
            <a:off x="365760" y="3048000"/>
            <a:ext cx="6461760" cy="268224"/>
          </a:xfrm>
          <a:prstGeom prst="rect">
            <a:avLst/>
          </a:prstGeom>
          <a:solidFill>
            <a:srgbClr val="3D3480"/>
          </a:solidFill>
          <a:ln w="12700">
            <a:solidFill>
              <a:srgbClr val="3D34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048000"/>
            <a:ext cx="6461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LIVE DEMO FLOW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5760" y="3438144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3"/>
          </a:p>
        </p:txBody>
      </p:sp>
      <p:sp>
        <p:nvSpPr>
          <p:cNvPr id="53" name="Text 51"/>
          <p:cNvSpPr/>
          <p:nvPr/>
        </p:nvSpPr>
        <p:spPr>
          <a:xfrm>
            <a:off x="731520" y="3389376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Trigger</a:t>
            </a:r>
            <a:endParaRPr lang="en-US" sz="1067"/>
          </a:p>
        </p:txBody>
      </p:sp>
      <p:sp>
        <p:nvSpPr>
          <p:cNvPr id="54" name="Text 52"/>
          <p:cNvSpPr/>
          <p:nvPr/>
        </p:nvSpPr>
        <p:spPr>
          <a:xfrm>
            <a:off x="731520" y="3608832"/>
            <a:ext cx="60716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Show Project-Sentinel-Daily-Extraction  daily 8AM schedule, all 28-day runs Succeeded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65760" y="3998976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998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3"/>
          </a:p>
        </p:txBody>
      </p:sp>
      <p:sp>
        <p:nvSpPr>
          <p:cNvPr id="57" name="Text 55"/>
          <p:cNvSpPr/>
          <p:nvPr/>
        </p:nvSpPr>
        <p:spPr>
          <a:xfrm>
            <a:off x="731520" y="3950208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 Auth</a:t>
            </a:r>
            <a:endParaRPr lang="en-US" sz="1067"/>
          </a:p>
        </p:txBody>
      </p:sp>
      <p:sp>
        <p:nvSpPr>
          <p:cNvPr id="58" name="Text 56"/>
          <p:cNvSpPr/>
          <p:nvPr/>
        </p:nvSpPr>
        <p:spPr>
          <a:xfrm>
            <a:off x="731520" y="4169664"/>
            <a:ext cx="60716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Azure Entra ID non-interactive MSAL client credentials, no user login required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65760" y="4559808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559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3"/>
          </a:p>
        </p:txBody>
      </p:sp>
      <p:sp>
        <p:nvSpPr>
          <p:cNvPr id="61" name="Text 59"/>
          <p:cNvSpPr/>
          <p:nvPr/>
        </p:nvSpPr>
        <p:spPr>
          <a:xfrm>
            <a:off x="731520" y="4511040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Extraction Live</a:t>
            </a:r>
            <a:endParaRPr lang="en-US" sz="1067"/>
          </a:p>
        </p:txBody>
      </p:sp>
      <p:sp>
        <p:nvSpPr>
          <p:cNvPr id="62" name="Text 60"/>
          <p:cNvSpPr/>
          <p:nvPr/>
        </p:nvSpPr>
        <p:spPr>
          <a:xfrm>
            <a:off x="731520" y="4730496"/>
            <a:ext cx="60716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python main.py all 5 modules: </a:t>
            </a:r>
            <a:r>
              <a:rPr lang="en-US" sz="90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AuditLog</a:t>
            </a:r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90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FileMetadata</a:t>
            </a:r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, Sharing, </a:t>
            </a:r>
            <a:r>
              <a:rPr lang="en-US" sz="90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PurviewLabel</a:t>
            </a:r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, DLP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65760" y="5120640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3"/>
          </a:p>
        </p:txBody>
      </p:sp>
      <p:sp>
        <p:nvSpPr>
          <p:cNvPr id="65" name="Text 63"/>
          <p:cNvSpPr/>
          <p:nvPr/>
        </p:nvSpPr>
        <p:spPr>
          <a:xfrm>
            <a:off x="731520" y="5071872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9 JSON Outputs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31520" y="5291328"/>
            <a:ext cx="60716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/output/ folder  9 timestamped files, extraction_history.xlsx, </a:t>
            </a:r>
            <a:r>
              <a:rPr lang="en-US" sz="90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dataQualityScore</a:t>
            </a:r>
            <a:r>
              <a:rPr lang="en-US" sz="90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 78+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65760" y="5681472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5681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3"/>
          </a:p>
        </p:txBody>
      </p:sp>
      <p:sp>
        <p:nvSpPr>
          <p:cNvPr id="69" name="Text 67"/>
          <p:cNvSpPr/>
          <p:nvPr/>
        </p:nvSpPr>
        <p:spPr>
          <a:xfrm>
            <a:off x="731520" y="5632704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Power BI update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31520" y="5852160"/>
            <a:ext cx="60716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33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updates: 354 sign-ins, 26 files, 101 high-risk files, risk scoring live</a:t>
            </a:r>
            <a:endParaRPr lang="en-US" sz="933"/>
          </a:p>
        </p:txBody>
      </p:sp>
      <p:sp>
        <p:nvSpPr>
          <p:cNvPr id="71" name="Shape 69"/>
          <p:cNvSpPr/>
          <p:nvPr/>
        </p:nvSpPr>
        <p:spPr>
          <a:xfrm>
            <a:off x="365760" y="6144768"/>
            <a:ext cx="6461760" cy="316992"/>
          </a:xfrm>
          <a:prstGeom prst="rect">
            <a:avLst/>
          </a:prstGeom>
          <a:solidFill>
            <a:srgbClr val="D6EFEA"/>
          </a:solidFill>
          <a:ln w="12700">
            <a:solidFill>
              <a:srgbClr val="21736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3296" y="6144768"/>
            <a:ext cx="6266688" cy="31699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r>
              <a:rPr lang="en-US" sz="900">
                <a:solidFill>
                  <a:srgbClr val="217367"/>
                </a:solidFill>
                <a:latin typeface="Calibri"/>
                <a:ea typeface="Calibri"/>
                <a:cs typeface="Calibri"/>
              </a:rPr>
              <a:t>✓  OUTCOME: Fully automated triggered, authenticated, extracted, </a:t>
            </a:r>
            <a:r>
              <a:rPr lang="en-US" sz="900" err="1">
                <a:solidFill>
                  <a:srgbClr val="217367"/>
                </a:solidFill>
                <a:latin typeface="Calibri"/>
                <a:ea typeface="Calibri"/>
                <a:cs typeface="Calibri"/>
              </a:rPr>
              <a:t>analysed</a:t>
            </a:r>
            <a:r>
              <a:rPr lang="en-US" sz="900">
                <a:solidFill>
                  <a:srgbClr val="217367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lang="en-US" sz="900" err="1">
                <a:solidFill>
                  <a:srgbClr val="217367"/>
                </a:solidFill>
                <a:latin typeface="Calibri"/>
                <a:ea typeface="Calibri"/>
                <a:cs typeface="Calibri"/>
              </a:rPr>
              <a:t>visualised</a:t>
            </a:r>
            <a:r>
              <a:rPr lang="en-US" sz="900">
                <a:solidFill>
                  <a:srgbClr val="217367"/>
                </a:solidFill>
                <a:latin typeface="Calibri"/>
                <a:ea typeface="Calibri"/>
                <a:cs typeface="Calibri"/>
              </a:rPr>
              <a:t> daily with automated extraction with manual Power BI refresh.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010400" y="3048000"/>
            <a:ext cx="4754880" cy="26822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10400" y="3048000"/>
            <a:ext cx="4754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SCREENSHOT: Power Automate 28-Day Run History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010400" y="3340608"/>
            <a:ext cx="4754880" cy="3121152"/>
          </a:xfrm>
          <a:prstGeom prst="rect">
            <a:avLst/>
          </a:prstGeom>
          <a:solidFill>
            <a:srgbClr val="F0EEF9"/>
          </a:solidFill>
          <a:ln w="12700">
            <a:solidFill>
              <a:srgbClr val="7B6FE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7010400" y="3340608"/>
            <a:ext cx="4754880" cy="341376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10400" y="3340608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Power Automate  Project-Sentinel-Daily-Extraction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34A87F2-79E2-C783-154F-7DE3BC8F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352800"/>
            <a:ext cx="4815840" cy="34137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4630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>
                <a:solidFill>
                  <a:schemeClr val="accent5">
                    <a:lumMod val="1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733">
              <a:solidFill>
                <a:schemeClr val="accent5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58" name="Shape 5">
            <a:extLst>
              <a:ext uri="{FF2B5EF4-FFF2-40B4-BE49-F238E27FC236}">
                <a16:creationId xmlns:a16="http://schemas.microsoft.com/office/drawing/2014/main" id="{FE261102-C99F-94EB-0F68-8BE16103BBA2}"/>
              </a:ext>
            </a:extLst>
          </p:cNvPr>
          <p:cNvSpPr/>
          <p:nvPr/>
        </p:nvSpPr>
        <p:spPr>
          <a:xfrm>
            <a:off x="898350" y="1733479"/>
            <a:ext cx="1889760" cy="1280160"/>
          </a:xfrm>
          <a:prstGeom prst="rect">
            <a:avLst/>
          </a:prstGeom>
          <a:solidFill>
            <a:srgbClr val="7B6FE0">
              <a:alpha val="30000"/>
            </a:srgbClr>
          </a:solidFill>
          <a:ln w="12700">
            <a:solidFill>
              <a:srgbClr val="7B6FE0">
                <a:alpha val="30000"/>
              </a:srgbClr>
            </a:solidFill>
            <a:prstDash val="solid"/>
          </a:ln>
        </p:spPr>
      </p:sp>
      <p:sp>
        <p:nvSpPr>
          <p:cNvPr id="159" name="Shape 6">
            <a:extLst>
              <a:ext uri="{FF2B5EF4-FFF2-40B4-BE49-F238E27FC236}">
                <a16:creationId xmlns:a16="http://schemas.microsoft.com/office/drawing/2014/main" id="{7AD30A92-9DE6-CE6E-259C-83D1E52BF0EA}"/>
              </a:ext>
            </a:extLst>
          </p:cNvPr>
          <p:cNvSpPr/>
          <p:nvPr/>
        </p:nvSpPr>
        <p:spPr>
          <a:xfrm>
            <a:off x="849582" y="1684711"/>
            <a:ext cx="1889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BFEA5707-4D2B-CF6C-B246-0B2117FC4CBC}"/>
              </a:ext>
            </a:extLst>
          </p:cNvPr>
          <p:cNvSpPr/>
          <p:nvPr/>
        </p:nvSpPr>
        <p:spPr>
          <a:xfrm>
            <a:off x="1575006" y="1341886"/>
            <a:ext cx="438912" cy="43891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61" name="Text 8">
            <a:extLst>
              <a:ext uri="{FF2B5EF4-FFF2-40B4-BE49-F238E27FC236}">
                <a16:creationId xmlns:a16="http://schemas.microsoft.com/office/drawing/2014/main" id="{F05B4CF3-D9C6-1AF0-7BB1-34CA7519AA14}"/>
              </a:ext>
            </a:extLst>
          </p:cNvPr>
          <p:cNvSpPr/>
          <p:nvPr/>
        </p:nvSpPr>
        <p:spPr>
          <a:xfrm>
            <a:off x="1575006" y="134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900">
              <a:latin typeface="Aptos Light"/>
              <a:ea typeface="Calibri"/>
              <a:cs typeface="Calibri"/>
            </a:endParaRPr>
          </a:p>
        </p:txBody>
      </p:sp>
      <p:sp>
        <p:nvSpPr>
          <p:cNvPr id="162" name="Text 9">
            <a:extLst>
              <a:ext uri="{FF2B5EF4-FFF2-40B4-BE49-F238E27FC236}">
                <a16:creationId xmlns:a16="http://schemas.microsoft.com/office/drawing/2014/main" id="{750D35A8-05EF-429D-0CDA-B96D75DB4E12}"/>
              </a:ext>
            </a:extLst>
          </p:cNvPr>
          <p:cNvSpPr/>
          <p:nvPr/>
        </p:nvSpPr>
        <p:spPr>
          <a:xfrm>
            <a:off x="849582" y="1757863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TRIGGER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63" name="Text 10">
            <a:extLst>
              <a:ext uri="{FF2B5EF4-FFF2-40B4-BE49-F238E27FC236}">
                <a16:creationId xmlns:a16="http://schemas.microsoft.com/office/drawing/2014/main" id="{12F81420-A90A-11B3-C872-ABA69DACE7AE}"/>
              </a:ext>
            </a:extLst>
          </p:cNvPr>
          <p:cNvSpPr/>
          <p:nvPr/>
        </p:nvSpPr>
        <p:spPr>
          <a:xfrm>
            <a:off x="849582" y="2074855"/>
            <a:ext cx="1889760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Power Automate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Daily 08:00 AM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64" name="Shape 11">
            <a:extLst>
              <a:ext uri="{FF2B5EF4-FFF2-40B4-BE49-F238E27FC236}">
                <a16:creationId xmlns:a16="http://schemas.microsoft.com/office/drawing/2014/main" id="{54AC33C2-5877-35F9-8421-CC5B3689E8A8}"/>
              </a:ext>
            </a:extLst>
          </p:cNvPr>
          <p:cNvSpPr/>
          <p:nvPr/>
        </p:nvSpPr>
        <p:spPr>
          <a:xfrm>
            <a:off x="2763726" y="2324791"/>
            <a:ext cx="121920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165" name="Shape 12">
            <a:extLst>
              <a:ext uri="{FF2B5EF4-FFF2-40B4-BE49-F238E27FC236}">
                <a16:creationId xmlns:a16="http://schemas.microsoft.com/office/drawing/2014/main" id="{F1B7FA02-3BD1-CC56-487C-5B7E714E945C}"/>
              </a:ext>
            </a:extLst>
          </p:cNvPr>
          <p:cNvSpPr/>
          <p:nvPr/>
        </p:nvSpPr>
        <p:spPr>
          <a:xfrm>
            <a:off x="2958798" y="1733479"/>
            <a:ext cx="1889760" cy="1280160"/>
          </a:xfrm>
          <a:prstGeom prst="rect">
            <a:avLst/>
          </a:prstGeom>
          <a:solidFill>
            <a:srgbClr val="7B6FE0">
              <a:alpha val="30000"/>
            </a:srgbClr>
          </a:solidFill>
          <a:ln w="12700">
            <a:solidFill>
              <a:srgbClr val="7B6FE0">
                <a:alpha val="30000"/>
              </a:srgbClr>
            </a:solidFill>
            <a:prstDash val="solid"/>
          </a:ln>
        </p:spPr>
      </p:sp>
      <p:sp>
        <p:nvSpPr>
          <p:cNvPr id="166" name="Shape 13">
            <a:extLst>
              <a:ext uri="{FF2B5EF4-FFF2-40B4-BE49-F238E27FC236}">
                <a16:creationId xmlns:a16="http://schemas.microsoft.com/office/drawing/2014/main" id="{458C3DAA-E25E-2E60-1C22-521CDE91BA03}"/>
              </a:ext>
            </a:extLst>
          </p:cNvPr>
          <p:cNvSpPr/>
          <p:nvPr/>
        </p:nvSpPr>
        <p:spPr>
          <a:xfrm>
            <a:off x="2910030" y="1684711"/>
            <a:ext cx="1889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67" name="Shape 14">
            <a:extLst>
              <a:ext uri="{FF2B5EF4-FFF2-40B4-BE49-F238E27FC236}">
                <a16:creationId xmlns:a16="http://schemas.microsoft.com/office/drawing/2014/main" id="{9D5443EE-C3DD-0130-B8F3-DF4F149CA9DF}"/>
              </a:ext>
            </a:extLst>
          </p:cNvPr>
          <p:cNvSpPr/>
          <p:nvPr/>
        </p:nvSpPr>
        <p:spPr>
          <a:xfrm>
            <a:off x="3619468" y="1353353"/>
            <a:ext cx="454898" cy="428255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68" name="Text 15">
            <a:extLst>
              <a:ext uri="{FF2B5EF4-FFF2-40B4-BE49-F238E27FC236}">
                <a16:creationId xmlns:a16="http://schemas.microsoft.com/office/drawing/2014/main" id="{81C411C6-4150-32C6-D388-1467B2FDB609}"/>
              </a:ext>
            </a:extLst>
          </p:cNvPr>
          <p:cNvSpPr/>
          <p:nvPr/>
        </p:nvSpPr>
        <p:spPr>
          <a:xfrm>
            <a:off x="3624798" y="1358682"/>
            <a:ext cx="449568" cy="41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900">
              <a:latin typeface="Aptos Light"/>
              <a:ea typeface="Calibri"/>
              <a:cs typeface="Calibri"/>
            </a:endParaRPr>
          </a:p>
        </p:txBody>
      </p:sp>
      <p:sp>
        <p:nvSpPr>
          <p:cNvPr id="169" name="Text 16">
            <a:extLst>
              <a:ext uri="{FF2B5EF4-FFF2-40B4-BE49-F238E27FC236}">
                <a16:creationId xmlns:a16="http://schemas.microsoft.com/office/drawing/2014/main" id="{46DE7E69-D923-3F7D-388E-405D37A90DA8}"/>
              </a:ext>
            </a:extLst>
          </p:cNvPr>
          <p:cNvSpPr/>
          <p:nvPr/>
        </p:nvSpPr>
        <p:spPr>
          <a:xfrm>
            <a:off x="2910030" y="1757863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AUTH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70" name="Text 17">
            <a:extLst>
              <a:ext uri="{FF2B5EF4-FFF2-40B4-BE49-F238E27FC236}">
                <a16:creationId xmlns:a16="http://schemas.microsoft.com/office/drawing/2014/main" id="{5CF25635-70C0-C694-D048-E291D1908B51}"/>
              </a:ext>
            </a:extLst>
          </p:cNvPr>
          <p:cNvSpPr/>
          <p:nvPr/>
        </p:nvSpPr>
        <p:spPr>
          <a:xfrm>
            <a:off x="2910030" y="2074855"/>
            <a:ext cx="1889760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Service Principal </a:t>
            </a: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MSAL Client Credentials Flow </a:t>
            </a: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Azure Entra ID </a:t>
            </a: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Non-Interactive Authentication</a:t>
            </a:r>
          </a:p>
          <a:p>
            <a:pPr algn="ctr"/>
            <a:endParaRPr lang="en-US" sz="1050">
              <a:solidFill>
                <a:srgbClr val="6B6B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Shape 18">
            <a:extLst>
              <a:ext uri="{FF2B5EF4-FFF2-40B4-BE49-F238E27FC236}">
                <a16:creationId xmlns:a16="http://schemas.microsoft.com/office/drawing/2014/main" id="{B7F2EA6F-3DED-3612-AF4D-B900E675D8D1}"/>
              </a:ext>
            </a:extLst>
          </p:cNvPr>
          <p:cNvSpPr/>
          <p:nvPr/>
        </p:nvSpPr>
        <p:spPr>
          <a:xfrm>
            <a:off x="4824174" y="2324791"/>
            <a:ext cx="121920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172" name="Shape 19">
            <a:extLst>
              <a:ext uri="{FF2B5EF4-FFF2-40B4-BE49-F238E27FC236}">
                <a16:creationId xmlns:a16="http://schemas.microsoft.com/office/drawing/2014/main" id="{9E376BCF-4154-ADC0-31AC-403127D9BA5D}"/>
              </a:ext>
            </a:extLst>
          </p:cNvPr>
          <p:cNvSpPr/>
          <p:nvPr/>
        </p:nvSpPr>
        <p:spPr>
          <a:xfrm>
            <a:off x="5019246" y="1733479"/>
            <a:ext cx="1889760" cy="1280160"/>
          </a:xfrm>
          <a:prstGeom prst="rect">
            <a:avLst/>
          </a:prstGeom>
          <a:solidFill>
            <a:srgbClr val="7B6FE0">
              <a:alpha val="30000"/>
            </a:srgbClr>
          </a:solidFill>
          <a:ln w="12700">
            <a:solidFill>
              <a:srgbClr val="7B6FE0">
                <a:alpha val="30000"/>
              </a:srgbClr>
            </a:solidFill>
            <a:prstDash val="solid"/>
          </a:ln>
        </p:spPr>
      </p:sp>
      <p:sp>
        <p:nvSpPr>
          <p:cNvPr id="173" name="Shape 20">
            <a:extLst>
              <a:ext uri="{FF2B5EF4-FFF2-40B4-BE49-F238E27FC236}">
                <a16:creationId xmlns:a16="http://schemas.microsoft.com/office/drawing/2014/main" id="{7E50DA86-B04D-8593-F539-3880FC06DE3F}"/>
              </a:ext>
            </a:extLst>
          </p:cNvPr>
          <p:cNvSpPr/>
          <p:nvPr/>
        </p:nvSpPr>
        <p:spPr>
          <a:xfrm>
            <a:off x="4970478" y="1684711"/>
            <a:ext cx="1889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74" name="Shape 21">
            <a:extLst>
              <a:ext uri="{FF2B5EF4-FFF2-40B4-BE49-F238E27FC236}">
                <a16:creationId xmlns:a16="http://schemas.microsoft.com/office/drawing/2014/main" id="{62A6DA4D-75E4-7560-F2AB-E0CEC79A1D43}"/>
              </a:ext>
            </a:extLst>
          </p:cNvPr>
          <p:cNvSpPr/>
          <p:nvPr/>
        </p:nvSpPr>
        <p:spPr>
          <a:xfrm>
            <a:off x="5695902" y="1342696"/>
            <a:ext cx="438912" cy="43891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5" name="Text 22">
            <a:extLst>
              <a:ext uri="{FF2B5EF4-FFF2-40B4-BE49-F238E27FC236}">
                <a16:creationId xmlns:a16="http://schemas.microsoft.com/office/drawing/2014/main" id="{8B092077-80F3-797E-67A2-A4290189326D}"/>
              </a:ext>
            </a:extLst>
          </p:cNvPr>
          <p:cNvSpPr/>
          <p:nvPr/>
        </p:nvSpPr>
        <p:spPr>
          <a:xfrm>
            <a:off x="5711887" y="1353353"/>
            <a:ext cx="422927" cy="444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900">
              <a:latin typeface="Aptos Light"/>
              <a:ea typeface="Calibri"/>
              <a:cs typeface="Calibri"/>
            </a:endParaRPr>
          </a:p>
        </p:txBody>
      </p:sp>
      <p:sp>
        <p:nvSpPr>
          <p:cNvPr id="176" name="Text 23">
            <a:extLst>
              <a:ext uri="{FF2B5EF4-FFF2-40B4-BE49-F238E27FC236}">
                <a16:creationId xmlns:a16="http://schemas.microsoft.com/office/drawing/2014/main" id="{3242123C-5118-4362-1CC3-6767F67EDBA7}"/>
              </a:ext>
            </a:extLst>
          </p:cNvPr>
          <p:cNvSpPr/>
          <p:nvPr/>
        </p:nvSpPr>
        <p:spPr>
          <a:xfrm>
            <a:off x="4970478" y="1757863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EXTRACT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77" name="Text 24">
            <a:extLst>
              <a:ext uri="{FF2B5EF4-FFF2-40B4-BE49-F238E27FC236}">
                <a16:creationId xmlns:a16="http://schemas.microsoft.com/office/drawing/2014/main" id="{0F26B551-2B37-C51B-F03E-C0F39930ED4C}"/>
              </a:ext>
            </a:extLst>
          </p:cNvPr>
          <p:cNvSpPr/>
          <p:nvPr/>
        </p:nvSpPr>
        <p:spPr>
          <a:xfrm>
            <a:off x="4970478" y="2074855"/>
            <a:ext cx="1889760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5 Modules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Graph / SP / Purview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78" name="Shape 25">
            <a:extLst>
              <a:ext uri="{FF2B5EF4-FFF2-40B4-BE49-F238E27FC236}">
                <a16:creationId xmlns:a16="http://schemas.microsoft.com/office/drawing/2014/main" id="{C18C775E-F53E-FB2E-F503-65FF23564FE7}"/>
              </a:ext>
            </a:extLst>
          </p:cNvPr>
          <p:cNvSpPr/>
          <p:nvPr/>
        </p:nvSpPr>
        <p:spPr>
          <a:xfrm>
            <a:off x="6884622" y="2324791"/>
            <a:ext cx="121920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179" name="Shape 26">
            <a:extLst>
              <a:ext uri="{FF2B5EF4-FFF2-40B4-BE49-F238E27FC236}">
                <a16:creationId xmlns:a16="http://schemas.microsoft.com/office/drawing/2014/main" id="{BCCB0938-689E-9760-6340-2A97915864DA}"/>
              </a:ext>
            </a:extLst>
          </p:cNvPr>
          <p:cNvSpPr/>
          <p:nvPr/>
        </p:nvSpPr>
        <p:spPr>
          <a:xfrm>
            <a:off x="7079694" y="1733479"/>
            <a:ext cx="1889760" cy="1280160"/>
          </a:xfrm>
          <a:prstGeom prst="rect">
            <a:avLst/>
          </a:prstGeom>
          <a:solidFill>
            <a:srgbClr val="7B6FE0">
              <a:alpha val="30000"/>
            </a:srgbClr>
          </a:solidFill>
          <a:ln w="12700">
            <a:solidFill>
              <a:srgbClr val="7B6FE0">
                <a:alpha val="30000"/>
              </a:srgbClr>
            </a:solidFill>
            <a:prstDash val="solid"/>
          </a:ln>
        </p:spPr>
      </p:sp>
      <p:sp>
        <p:nvSpPr>
          <p:cNvPr id="180" name="Shape 27">
            <a:extLst>
              <a:ext uri="{FF2B5EF4-FFF2-40B4-BE49-F238E27FC236}">
                <a16:creationId xmlns:a16="http://schemas.microsoft.com/office/drawing/2014/main" id="{83882103-A5C3-A541-741F-B07866F68540}"/>
              </a:ext>
            </a:extLst>
          </p:cNvPr>
          <p:cNvSpPr/>
          <p:nvPr/>
        </p:nvSpPr>
        <p:spPr>
          <a:xfrm>
            <a:off x="7030926" y="1684711"/>
            <a:ext cx="1889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81" name="Shape 28">
            <a:extLst>
              <a:ext uri="{FF2B5EF4-FFF2-40B4-BE49-F238E27FC236}">
                <a16:creationId xmlns:a16="http://schemas.microsoft.com/office/drawing/2014/main" id="{0C55E2E8-5212-F963-CA83-A1E8B6AD4928}"/>
              </a:ext>
            </a:extLst>
          </p:cNvPr>
          <p:cNvSpPr/>
          <p:nvPr/>
        </p:nvSpPr>
        <p:spPr>
          <a:xfrm>
            <a:off x="7756350" y="1353353"/>
            <a:ext cx="438912" cy="43891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2" name="Text 29">
            <a:extLst>
              <a:ext uri="{FF2B5EF4-FFF2-40B4-BE49-F238E27FC236}">
                <a16:creationId xmlns:a16="http://schemas.microsoft.com/office/drawing/2014/main" id="{537CF399-F7F1-315C-3084-7F110E82D353}"/>
              </a:ext>
            </a:extLst>
          </p:cNvPr>
          <p:cNvSpPr/>
          <p:nvPr/>
        </p:nvSpPr>
        <p:spPr>
          <a:xfrm>
            <a:off x="7756350" y="1326710"/>
            <a:ext cx="438912" cy="577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900">
              <a:latin typeface="Aptos Light"/>
              <a:ea typeface="Calibri"/>
              <a:cs typeface="Calibri"/>
            </a:endParaRPr>
          </a:p>
        </p:txBody>
      </p:sp>
      <p:sp>
        <p:nvSpPr>
          <p:cNvPr id="183" name="Text 30">
            <a:extLst>
              <a:ext uri="{FF2B5EF4-FFF2-40B4-BE49-F238E27FC236}">
                <a16:creationId xmlns:a16="http://schemas.microsoft.com/office/drawing/2014/main" id="{8ACE5BC6-7949-1DF7-0C5E-B978FEE55EA2}"/>
              </a:ext>
            </a:extLst>
          </p:cNvPr>
          <p:cNvSpPr/>
          <p:nvPr/>
        </p:nvSpPr>
        <p:spPr>
          <a:xfrm>
            <a:off x="7030926" y="1757863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ANALYSE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84" name="Text 31">
            <a:extLst>
              <a:ext uri="{FF2B5EF4-FFF2-40B4-BE49-F238E27FC236}">
                <a16:creationId xmlns:a16="http://schemas.microsoft.com/office/drawing/2014/main" id="{DFE0A756-81DA-B232-7807-4DBA9D5CE7EF}"/>
              </a:ext>
            </a:extLst>
          </p:cNvPr>
          <p:cNvSpPr/>
          <p:nvPr/>
        </p:nvSpPr>
        <p:spPr>
          <a:xfrm>
            <a:off x="7030926" y="2074855"/>
            <a:ext cx="1889760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Risk Scoring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Exposure Levels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85" name="Shape 32">
            <a:extLst>
              <a:ext uri="{FF2B5EF4-FFF2-40B4-BE49-F238E27FC236}">
                <a16:creationId xmlns:a16="http://schemas.microsoft.com/office/drawing/2014/main" id="{F5ED46F9-84CA-8ADA-ABE7-416DFFEC74F8}"/>
              </a:ext>
            </a:extLst>
          </p:cNvPr>
          <p:cNvSpPr/>
          <p:nvPr/>
        </p:nvSpPr>
        <p:spPr>
          <a:xfrm>
            <a:off x="8945070" y="2324791"/>
            <a:ext cx="121920" cy="0"/>
          </a:xfrm>
          <a:prstGeom prst="line">
            <a:avLst/>
          </a:prstGeom>
          <a:noFill/>
          <a:ln w="19050">
            <a:solidFill>
              <a:srgbClr val="7B6FE0"/>
            </a:solidFill>
            <a:prstDash val="solid"/>
          </a:ln>
        </p:spPr>
      </p:sp>
      <p:sp>
        <p:nvSpPr>
          <p:cNvPr id="186" name="Shape 33">
            <a:extLst>
              <a:ext uri="{FF2B5EF4-FFF2-40B4-BE49-F238E27FC236}">
                <a16:creationId xmlns:a16="http://schemas.microsoft.com/office/drawing/2014/main" id="{5F38A65F-AF22-8B3C-5227-B29D590477F5}"/>
              </a:ext>
            </a:extLst>
          </p:cNvPr>
          <p:cNvSpPr/>
          <p:nvPr/>
        </p:nvSpPr>
        <p:spPr>
          <a:xfrm>
            <a:off x="9140142" y="1733479"/>
            <a:ext cx="1889760" cy="1280160"/>
          </a:xfrm>
          <a:prstGeom prst="rect">
            <a:avLst/>
          </a:prstGeom>
          <a:solidFill>
            <a:srgbClr val="7B6FE0">
              <a:alpha val="30000"/>
            </a:srgbClr>
          </a:solidFill>
          <a:ln w="12700">
            <a:solidFill>
              <a:srgbClr val="7B6FE0">
                <a:alpha val="30000"/>
              </a:srgbClr>
            </a:solidFill>
            <a:prstDash val="solid"/>
          </a:ln>
        </p:spPr>
      </p:sp>
      <p:sp>
        <p:nvSpPr>
          <p:cNvPr id="187" name="Shape 34">
            <a:extLst>
              <a:ext uri="{FF2B5EF4-FFF2-40B4-BE49-F238E27FC236}">
                <a16:creationId xmlns:a16="http://schemas.microsoft.com/office/drawing/2014/main" id="{64001DF5-887E-8540-D12D-85B8A4ABA637}"/>
              </a:ext>
            </a:extLst>
          </p:cNvPr>
          <p:cNvSpPr/>
          <p:nvPr/>
        </p:nvSpPr>
        <p:spPr>
          <a:xfrm>
            <a:off x="9091374" y="1684711"/>
            <a:ext cx="1889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88" name="Shape 35">
            <a:extLst>
              <a:ext uri="{FF2B5EF4-FFF2-40B4-BE49-F238E27FC236}">
                <a16:creationId xmlns:a16="http://schemas.microsoft.com/office/drawing/2014/main" id="{233E865D-B16D-DFAE-18A7-DF76BD1C17DD}"/>
              </a:ext>
            </a:extLst>
          </p:cNvPr>
          <p:cNvSpPr/>
          <p:nvPr/>
        </p:nvSpPr>
        <p:spPr>
          <a:xfrm>
            <a:off x="9816798" y="1316053"/>
            <a:ext cx="438912" cy="43891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9" name="Text 36">
            <a:extLst>
              <a:ext uri="{FF2B5EF4-FFF2-40B4-BE49-F238E27FC236}">
                <a16:creationId xmlns:a16="http://schemas.microsoft.com/office/drawing/2014/main" id="{B5532630-3968-CFC3-E2CD-85667244F09E}"/>
              </a:ext>
            </a:extLst>
          </p:cNvPr>
          <p:cNvSpPr/>
          <p:nvPr/>
        </p:nvSpPr>
        <p:spPr>
          <a:xfrm>
            <a:off x="9816798" y="132671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900">
              <a:latin typeface="Aptos Light"/>
              <a:ea typeface="Calibri"/>
              <a:cs typeface="Calibri"/>
            </a:endParaRPr>
          </a:p>
        </p:txBody>
      </p:sp>
      <p:sp>
        <p:nvSpPr>
          <p:cNvPr id="190" name="Text 37">
            <a:extLst>
              <a:ext uri="{FF2B5EF4-FFF2-40B4-BE49-F238E27FC236}">
                <a16:creationId xmlns:a16="http://schemas.microsoft.com/office/drawing/2014/main" id="{382410F1-4C0D-847C-276E-A602FE3F9349}"/>
              </a:ext>
            </a:extLst>
          </p:cNvPr>
          <p:cNvSpPr/>
          <p:nvPr/>
        </p:nvSpPr>
        <p:spPr>
          <a:xfrm>
            <a:off x="9091374" y="1757863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OUTPUT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91" name="Text 38">
            <a:extLst>
              <a:ext uri="{FF2B5EF4-FFF2-40B4-BE49-F238E27FC236}">
                <a16:creationId xmlns:a16="http://schemas.microsoft.com/office/drawing/2014/main" id="{BA0A38B5-BEC2-1569-4465-AECDD5F3E867}"/>
              </a:ext>
            </a:extLst>
          </p:cNvPr>
          <p:cNvSpPr/>
          <p:nvPr/>
        </p:nvSpPr>
        <p:spPr>
          <a:xfrm>
            <a:off x="9091374" y="2074855"/>
            <a:ext cx="1889760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9 JSON Files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algn="ctr"/>
            <a:r>
              <a:rPr lang="en-US" sz="1050" err="1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ShadowSight</a:t>
            </a:r>
            <a:r>
              <a:rPr lang="en-US" sz="105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 / BI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92" name="Shape 39">
            <a:extLst>
              <a:ext uri="{FF2B5EF4-FFF2-40B4-BE49-F238E27FC236}">
                <a16:creationId xmlns:a16="http://schemas.microsoft.com/office/drawing/2014/main" id="{26C52CFF-65B9-592B-9758-BCC821334F5A}"/>
              </a:ext>
            </a:extLst>
          </p:cNvPr>
          <p:cNvSpPr/>
          <p:nvPr/>
        </p:nvSpPr>
        <p:spPr>
          <a:xfrm>
            <a:off x="849582" y="3147751"/>
            <a:ext cx="1889760" cy="1560576"/>
          </a:xfrm>
          <a:prstGeom prst="rect">
            <a:avLst/>
          </a:prstGeom>
          <a:solidFill>
            <a:srgbClr val="F0EEF9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93" name="Shape 40">
            <a:extLst>
              <a:ext uri="{FF2B5EF4-FFF2-40B4-BE49-F238E27FC236}">
                <a16:creationId xmlns:a16="http://schemas.microsoft.com/office/drawing/2014/main" id="{3F8CDBB4-B4B7-3CCB-34DF-285678D926C2}"/>
              </a:ext>
            </a:extLst>
          </p:cNvPr>
          <p:cNvSpPr/>
          <p:nvPr/>
        </p:nvSpPr>
        <p:spPr>
          <a:xfrm>
            <a:off x="849582" y="3147751"/>
            <a:ext cx="1889760" cy="316992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94" name="Text 41">
            <a:extLst>
              <a:ext uri="{FF2B5EF4-FFF2-40B4-BE49-F238E27FC236}">
                <a16:creationId xmlns:a16="http://schemas.microsoft.com/office/drawing/2014/main" id="{BD7DDBE0-D33A-A8DB-8E08-8E6FBC5DF87A}"/>
              </a:ext>
            </a:extLst>
          </p:cNvPr>
          <p:cNvSpPr/>
          <p:nvPr/>
        </p:nvSpPr>
        <p:spPr>
          <a:xfrm>
            <a:off x="849582" y="3147751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API Surfaces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95" name="Text 42">
            <a:extLst>
              <a:ext uri="{FF2B5EF4-FFF2-40B4-BE49-F238E27FC236}">
                <a16:creationId xmlns:a16="http://schemas.microsoft.com/office/drawing/2014/main" id="{2A6F5A97-7F0D-0364-DC7D-F9AB5E589058}"/>
              </a:ext>
            </a:extLst>
          </p:cNvPr>
          <p:cNvSpPr/>
          <p:nvPr/>
        </p:nvSpPr>
        <p:spPr>
          <a:xfrm>
            <a:off x="934926" y="3489127"/>
            <a:ext cx="1767840" cy="1170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/>
          <a:lstStyle/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Graph API v1.0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Graph API beta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SharePoint REST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Purview Compliance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96" name="Shape 43">
            <a:extLst>
              <a:ext uri="{FF2B5EF4-FFF2-40B4-BE49-F238E27FC236}">
                <a16:creationId xmlns:a16="http://schemas.microsoft.com/office/drawing/2014/main" id="{E07F4909-5552-D515-D5AE-0A9F0A9F6C71}"/>
              </a:ext>
            </a:extLst>
          </p:cNvPr>
          <p:cNvSpPr/>
          <p:nvPr/>
        </p:nvSpPr>
        <p:spPr>
          <a:xfrm>
            <a:off x="2910030" y="3147751"/>
            <a:ext cx="1889760" cy="1560576"/>
          </a:xfrm>
          <a:prstGeom prst="rect">
            <a:avLst/>
          </a:prstGeom>
          <a:solidFill>
            <a:srgbClr val="F0EEF9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97" name="Shape 44">
            <a:extLst>
              <a:ext uri="{FF2B5EF4-FFF2-40B4-BE49-F238E27FC236}">
                <a16:creationId xmlns:a16="http://schemas.microsoft.com/office/drawing/2014/main" id="{488A72CE-3797-1731-4872-0D317034A52F}"/>
              </a:ext>
            </a:extLst>
          </p:cNvPr>
          <p:cNvSpPr/>
          <p:nvPr/>
        </p:nvSpPr>
        <p:spPr>
          <a:xfrm>
            <a:off x="2910030" y="3147751"/>
            <a:ext cx="1889760" cy="316992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98" name="Text 45">
            <a:extLst>
              <a:ext uri="{FF2B5EF4-FFF2-40B4-BE49-F238E27FC236}">
                <a16:creationId xmlns:a16="http://schemas.microsoft.com/office/drawing/2014/main" id="{D20A30E8-53A9-6290-8617-D12C864CD890}"/>
              </a:ext>
            </a:extLst>
          </p:cNvPr>
          <p:cNvSpPr/>
          <p:nvPr/>
        </p:nvSpPr>
        <p:spPr>
          <a:xfrm>
            <a:off x="2910030" y="3147751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5 Extractors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199" name="Text 46">
            <a:extLst>
              <a:ext uri="{FF2B5EF4-FFF2-40B4-BE49-F238E27FC236}">
                <a16:creationId xmlns:a16="http://schemas.microsoft.com/office/drawing/2014/main" id="{9858F08C-E9C7-4992-7300-63D20EA3E71A}"/>
              </a:ext>
            </a:extLst>
          </p:cNvPr>
          <p:cNvSpPr/>
          <p:nvPr/>
        </p:nvSpPr>
        <p:spPr>
          <a:xfrm>
            <a:off x="2995374" y="3489127"/>
            <a:ext cx="1767840" cy="1170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/>
          <a:lstStyle/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AuditLog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FileMetadata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SharingPermissions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PurviewLabel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DLP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00" name="Shape 47">
            <a:extLst>
              <a:ext uri="{FF2B5EF4-FFF2-40B4-BE49-F238E27FC236}">
                <a16:creationId xmlns:a16="http://schemas.microsoft.com/office/drawing/2014/main" id="{0394ED0C-D6B9-0F19-D11C-EF7DA26606EE}"/>
              </a:ext>
            </a:extLst>
          </p:cNvPr>
          <p:cNvSpPr/>
          <p:nvPr/>
        </p:nvSpPr>
        <p:spPr>
          <a:xfrm>
            <a:off x="4970478" y="3147751"/>
            <a:ext cx="1889760" cy="1560576"/>
          </a:xfrm>
          <a:prstGeom prst="rect">
            <a:avLst/>
          </a:prstGeom>
          <a:solidFill>
            <a:srgbClr val="F0EEF9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01" name="Shape 48">
            <a:extLst>
              <a:ext uri="{FF2B5EF4-FFF2-40B4-BE49-F238E27FC236}">
                <a16:creationId xmlns:a16="http://schemas.microsoft.com/office/drawing/2014/main" id="{98130918-6DD9-AF0C-640F-AC6E601ADB91}"/>
              </a:ext>
            </a:extLst>
          </p:cNvPr>
          <p:cNvSpPr/>
          <p:nvPr/>
        </p:nvSpPr>
        <p:spPr>
          <a:xfrm>
            <a:off x="4970478" y="3147751"/>
            <a:ext cx="1889760" cy="316992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02" name="Text 49">
            <a:extLst>
              <a:ext uri="{FF2B5EF4-FFF2-40B4-BE49-F238E27FC236}">
                <a16:creationId xmlns:a16="http://schemas.microsoft.com/office/drawing/2014/main" id="{301C317F-3E01-8CF4-4589-335C61C04EC6}"/>
              </a:ext>
            </a:extLst>
          </p:cNvPr>
          <p:cNvSpPr/>
          <p:nvPr/>
        </p:nvSpPr>
        <p:spPr>
          <a:xfrm>
            <a:off x="4970478" y="3147751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Risk Scoring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03" name="Text 50">
            <a:extLst>
              <a:ext uri="{FF2B5EF4-FFF2-40B4-BE49-F238E27FC236}">
                <a16:creationId xmlns:a16="http://schemas.microsoft.com/office/drawing/2014/main" id="{C672DEB3-7526-0221-0C4C-FD0D5FE00B81}"/>
              </a:ext>
            </a:extLst>
          </p:cNvPr>
          <p:cNvSpPr/>
          <p:nvPr/>
        </p:nvSpPr>
        <p:spPr>
          <a:xfrm>
            <a:off x="5055822" y="3489127"/>
            <a:ext cx="1767840" cy="1170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/>
          <a:lstStyle/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Anon link +40 (High)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No expiry +25 (High)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Missing label +15 (Med)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Low / Med / High bands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04" name="Shape 51">
            <a:extLst>
              <a:ext uri="{FF2B5EF4-FFF2-40B4-BE49-F238E27FC236}">
                <a16:creationId xmlns:a16="http://schemas.microsoft.com/office/drawing/2014/main" id="{423F4B4E-9B1D-5C3C-E183-9529E5CB119A}"/>
              </a:ext>
            </a:extLst>
          </p:cNvPr>
          <p:cNvSpPr/>
          <p:nvPr/>
        </p:nvSpPr>
        <p:spPr>
          <a:xfrm>
            <a:off x="7030926" y="3147751"/>
            <a:ext cx="1889760" cy="1560576"/>
          </a:xfrm>
          <a:prstGeom prst="rect">
            <a:avLst/>
          </a:prstGeom>
          <a:solidFill>
            <a:srgbClr val="F0EEF9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05" name="Shape 52">
            <a:extLst>
              <a:ext uri="{FF2B5EF4-FFF2-40B4-BE49-F238E27FC236}">
                <a16:creationId xmlns:a16="http://schemas.microsoft.com/office/drawing/2014/main" id="{C9D3F38A-9291-DA97-E36C-C727C329F489}"/>
              </a:ext>
            </a:extLst>
          </p:cNvPr>
          <p:cNvSpPr/>
          <p:nvPr/>
        </p:nvSpPr>
        <p:spPr>
          <a:xfrm>
            <a:off x="7030926" y="3147751"/>
            <a:ext cx="1889760" cy="316992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06" name="Text 53">
            <a:extLst>
              <a:ext uri="{FF2B5EF4-FFF2-40B4-BE49-F238E27FC236}">
                <a16:creationId xmlns:a16="http://schemas.microsoft.com/office/drawing/2014/main" id="{C501EB23-AAD7-0FFE-9BED-9B1AE3CF5BF3}"/>
              </a:ext>
            </a:extLst>
          </p:cNvPr>
          <p:cNvSpPr/>
          <p:nvPr/>
        </p:nvSpPr>
        <p:spPr>
          <a:xfrm>
            <a:off x="7030926" y="3147751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Schema v2.0.0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07" name="Text 54">
            <a:extLst>
              <a:ext uri="{FF2B5EF4-FFF2-40B4-BE49-F238E27FC236}">
                <a16:creationId xmlns:a16="http://schemas.microsoft.com/office/drawing/2014/main" id="{EB603DCA-6939-9D86-89BA-68B3C89C50DB}"/>
              </a:ext>
            </a:extLst>
          </p:cNvPr>
          <p:cNvSpPr/>
          <p:nvPr/>
        </p:nvSpPr>
        <p:spPr>
          <a:xfrm>
            <a:off x="7116270" y="3489127"/>
            <a:ext cx="1767840" cy="1170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/>
          <a:lstStyle/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95 fields, 9 categories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Provenance envelope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Timestamped JSON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dataQualityScore</a:t>
            </a: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 0-100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08" name="Shape 55">
            <a:extLst>
              <a:ext uri="{FF2B5EF4-FFF2-40B4-BE49-F238E27FC236}">
                <a16:creationId xmlns:a16="http://schemas.microsoft.com/office/drawing/2014/main" id="{C8067296-984E-D635-54D6-6353E1681DC5}"/>
              </a:ext>
            </a:extLst>
          </p:cNvPr>
          <p:cNvSpPr/>
          <p:nvPr/>
        </p:nvSpPr>
        <p:spPr>
          <a:xfrm>
            <a:off x="9091374" y="3147751"/>
            <a:ext cx="1889760" cy="1560576"/>
          </a:xfrm>
          <a:prstGeom prst="rect">
            <a:avLst/>
          </a:prstGeom>
          <a:solidFill>
            <a:srgbClr val="F0EEF9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09" name="Shape 56">
            <a:extLst>
              <a:ext uri="{FF2B5EF4-FFF2-40B4-BE49-F238E27FC236}">
                <a16:creationId xmlns:a16="http://schemas.microsoft.com/office/drawing/2014/main" id="{8D20BB6E-C347-96C6-8B18-532B6851E794}"/>
              </a:ext>
            </a:extLst>
          </p:cNvPr>
          <p:cNvSpPr/>
          <p:nvPr/>
        </p:nvSpPr>
        <p:spPr>
          <a:xfrm>
            <a:off x="9091374" y="3147751"/>
            <a:ext cx="1889760" cy="316992"/>
          </a:xfrm>
          <a:prstGeom prst="rect">
            <a:avLst/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10" name="Text 57">
            <a:extLst>
              <a:ext uri="{FF2B5EF4-FFF2-40B4-BE49-F238E27FC236}">
                <a16:creationId xmlns:a16="http://schemas.microsoft.com/office/drawing/2014/main" id="{A3484CC7-EFD0-C52C-293F-AAC51549FCB0}"/>
              </a:ext>
            </a:extLst>
          </p:cNvPr>
          <p:cNvSpPr/>
          <p:nvPr/>
        </p:nvSpPr>
        <p:spPr>
          <a:xfrm>
            <a:off x="9091374" y="3147751"/>
            <a:ext cx="1889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Destinations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1" name="Text 58">
            <a:extLst>
              <a:ext uri="{FF2B5EF4-FFF2-40B4-BE49-F238E27FC236}">
                <a16:creationId xmlns:a16="http://schemas.microsoft.com/office/drawing/2014/main" id="{73E6F609-3C42-8C45-F7D0-1510C15450FD}"/>
              </a:ext>
            </a:extLst>
          </p:cNvPr>
          <p:cNvSpPr/>
          <p:nvPr/>
        </p:nvSpPr>
        <p:spPr>
          <a:xfrm>
            <a:off x="9176718" y="3489127"/>
            <a:ext cx="1767840" cy="1170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/>
          <a:lstStyle/>
          <a:p>
            <a:pPr marL="456565" indent="-456565">
              <a:buSzPct val="100000"/>
              <a:buChar char="•"/>
            </a:pPr>
            <a:r>
              <a:rPr lang="en-US" sz="1050" err="1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ShadowSight</a:t>
            </a: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 HTTPS/SFTP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Power BI 5-tab dashboard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extraction_history.xlsx</a:t>
            </a:r>
            <a:endParaRPr lang="en-US" sz="1050">
              <a:latin typeface="Aptos Light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050">
                <a:solidFill>
                  <a:srgbClr val="2D2B55"/>
                </a:solidFill>
                <a:latin typeface="Calibri"/>
                <a:ea typeface="Calibri"/>
                <a:cs typeface="Calibri"/>
              </a:rPr>
              <a:t>9 files per run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2" name="Text 59">
            <a:extLst>
              <a:ext uri="{FF2B5EF4-FFF2-40B4-BE49-F238E27FC236}">
                <a16:creationId xmlns:a16="http://schemas.microsoft.com/office/drawing/2014/main" id="{20045717-8FD1-E44C-4B2A-1EA08B7E32A8}"/>
              </a:ext>
            </a:extLst>
          </p:cNvPr>
          <p:cNvSpPr/>
          <p:nvPr/>
        </p:nvSpPr>
        <p:spPr>
          <a:xfrm>
            <a:off x="855678" y="4830247"/>
            <a:ext cx="268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Key Design Decisions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3" name="Shape 60">
            <a:extLst>
              <a:ext uri="{FF2B5EF4-FFF2-40B4-BE49-F238E27FC236}">
                <a16:creationId xmlns:a16="http://schemas.microsoft.com/office/drawing/2014/main" id="{BD175601-130F-A793-8B00-0D65C792C5B1}"/>
              </a:ext>
            </a:extLst>
          </p:cNvPr>
          <p:cNvSpPr/>
          <p:nvPr/>
        </p:nvSpPr>
        <p:spPr>
          <a:xfrm>
            <a:off x="3598878" y="4830247"/>
            <a:ext cx="1682496" cy="292608"/>
          </a:xfrm>
          <a:prstGeom prst="rect">
            <a:avLst/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214" name="Text 61">
            <a:extLst>
              <a:ext uri="{FF2B5EF4-FFF2-40B4-BE49-F238E27FC236}">
                <a16:creationId xmlns:a16="http://schemas.microsoft.com/office/drawing/2014/main" id="{476FAD98-7148-461D-1B06-3BAE340D5AB7}"/>
              </a:ext>
            </a:extLst>
          </p:cNvPr>
          <p:cNvSpPr/>
          <p:nvPr/>
        </p:nvSpPr>
        <p:spPr>
          <a:xfrm>
            <a:off x="3598878" y="4830247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Python 3.11 over PowerShell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5" name="Shape 62">
            <a:extLst>
              <a:ext uri="{FF2B5EF4-FFF2-40B4-BE49-F238E27FC236}">
                <a16:creationId xmlns:a16="http://schemas.microsoft.com/office/drawing/2014/main" id="{73311650-991C-99B8-D932-814014B159DC}"/>
              </a:ext>
            </a:extLst>
          </p:cNvPr>
          <p:cNvSpPr/>
          <p:nvPr/>
        </p:nvSpPr>
        <p:spPr>
          <a:xfrm>
            <a:off x="5403294" y="4830247"/>
            <a:ext cx="1682496" cy="292608"/>
          </a:xfrm>
          <a:prstGeom prst="rect">
            <a:avLst/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216" name="Text 63">
            <a:extLst>
              <a:ext uri="{FF2B5EF4-FFF2-40B4-BE49-F238E27FC236}">
                <a16:creationId xmlns:a16="http://schemas.microsoft.com/office/drawing/2014/main" id="{041676BD-B9E5-EAE1-ADD2-4A94DCA483B7}"/>
              </a:ext>
            </a:extLst>
          </p:cNvPr>
          <p:cNvSpPr/>
          <p:nvPr/>
        </p:nvSpPr>
        <p:spPr>
          <a:xfrm>
            <a:off x="5403294" y="4830247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 err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BaseExtractor</a:t>
            </a:r>
            <a:r>
              <a:rPr lang="en-US" sz="1050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 pattern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7" name="Shape 64">
            <a:extLst>
              <a:ext uri="{FF2B5EF4-FFF2-40B4-BE49-F238E27FC236}">
                <a16:creationId xmlns:a16="http://schemas.microsoft.com/office/drawing/2014/main" id="{96861D52-AC53-30D3-7070-BB2210F2331C}"/>
              </a:ext>
            </a:extLst>
          </p:cNvPr>
          <p:cNvSpPr/>
          <p:nvPr/>
        </p:nvSpPr>
        <p:spPr>
          <a:xfrm>
            <a:off x="7207710" y="4830247"/>
            <a:ext cx="1682496" cy="292608"/>
          </a:xfrm>
          <a:prstGeom prst="rect">
            <a:avLst/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218" name="Text 65">
            <a:extLst>
              <a:ext uri="{FF2B5EF4-FFF2-40B4-BE49-F238E27FC236}">
                <a16:creationId xmlns:a16="http://schemas.microsoft.com/office/drawing/2014/main" id="{F49C6983-6386-2405-1AF7-A00AB8677801}"/>
              </a:ext>
            </a:extLst>
          </p:cNvPr>
          <p:cNvSpPr/>
          <p:nvPr/>
        </p:nvSpPr>
        <p:spPr>
          <a:xfrm>
            <a:off x="7207710" y="4830247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Read-only permissions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19" name="Shape 66">
            <a:extLst>
              <a:ext uri="{FF2B5EF4-FFF2-40B4-BE49-F238E27FC236}">
                <a16:creationId xmlns:a16="http://schemas.microsoft.com/office/drawing/2014/main" id="{27FAFC5A-5F03-A19E-FDFA-E4CFACCA51A9}"/>
              </a:ext>
            </a:extLst>
          </p:cNvPr>
          <p:cNvSpPr/>
          <p:nvPr/>
        </p:nvSpPr>
        <p:spPr>
          <a:xfrm>
            <a:off x="9012126" y="4830247"/>
            <a:ext cx="1682496" cy="292608"/>
          </a:xfrm>
          <a:prstGeom prst="rect">
            <a:avLst/>
          </a:prstGeom>
          <a:solidFill>
            <a:srgbClr val="D6D0F5"/>
          </a:solidFill>
          <a:ln w="12700">
            <a:solidFill>
              <a:srgbClr val="7B6FE0"/>
            </a:solidFill>
            <a:prstDash val="solid"/>
          </a:ln>
        </p:spPr>
      </p:sp>
      <p:sp>
        <p:nvSpPr>
          <p:cNvPr id="220" name="Text 67">
            <a:extLst>
              <a:ext uri="{FF2B5EF4-FFF2-40B4-BE49-F238E27FC236}">
                <a16:creationId xmlns:a16="http://schemas.microsoft.com/office/drawing/2014/main" id="{2BC00DD7-33E5-72D6-C98E-537C558576F7}"/>
              </a:ext>
            </a:extLst>
          </p:cNvPr>
          <p:cNvSpPr/>
          <p:nvPr/>
        </p:nvSpPr>
        <p:spPr>
          <a:xfrm>
            <a:off x="9012126" y="4830247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Provenance envelope per output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21" name="Text 70">
            <a:extLst>
              <a:ext uri="{FF2B5EF4-FFF2-40B4-BE49-F238E27FC236}">
                <a16:creationId xmlns:a16="http://schemas.microsoft.com/office/drawing/2014/main" id="{34385266-74C2-4D46-56F6-5210C7809897}"/>
              </a:ext>
            </a:extLst>
          </p:cNvPr>
          <p:cNvSpPr/>
          <p:nvPr/>
        </p:nvSpPr>
        <p:spPr>
          <a:xfrm>
            <a:off x="855678" y="5244775"/>
            <a:ext cx="268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Known Gaps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22" name="Shape 71">
            <a:extLst>
              <a:ext uri="{FF2B5EF4-FFF2-40B4-BE49-F238E27FC236}">
                <a16:creationId xmlns:a16="http://schemas.microsoft.com/office/drawing/2014/main" id="{E76F3F07-F117-F61F-3740-63BC540941E5}"/>
              </a:ext>
            </a:extLst>
          </p:cNvPr>
          <p:cNvSpPr/>
          <p:nvPr/>
        </p:nvSpPr>
        <p:spPr>
          <a:xfrm>
            <a:off x="3598878" y="5244775"/>
            <a:ext cx="1682496" cy="292608"/>
          </a:xfrm>
          <a:prstGeom prst="rect">
            <a:avLst/>
          </a:prstGeom>
          <a:solidFill>
            <a:srgbClr val="F5E6E8"/>
          </a:solidFill>
          <a:ln w="12700">
            <a:solidFill>
              <a:srgbClr val="C06080"/>
            </a:solidFill>
            <a:prstDash val="solid"/>
          </a:ln>
        </p:spPr>
      </p:sp>
      <p:sp>
        <p:nvSpPr>
          <p:cNvPr id="223" name="Text 72">
            <a:extLst>
              <a:ext uri="{FF2B5EF4-FFF2-40B4-BE49-F238E27FC236}">
                <a16:creationId xmlns:a16="http://schemas.microsoft.com/office/drawing/2014/main" id="{26290089-EA64-0BF6-3FEE-80012E6716D9}"/>
              </a:ext>
            </a:extLst>
          </p:cNvPr>
          <p:cNvSpPr/>
          <p:nvPr/>
        </p:nvSpPr>
        <p:spPr>
          <a:xfrm>
            <a:off x="3598878" y="5244775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8B2040"/>
                </a:solidFill>
                <a:latin typeface="Calibri"/>
                <a:ea typeface="Calibri"/>
                <a:cs typeface="Calibri"/>
              </a:rPr>
              <a:t>Secret in config.py (Key Vault needed)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24" name="Shape 73">
            <a:extLst>
              <a:ext uri="{FF2B5EF4-FFF2-40B4-BE49-F238E27FC236}">
                <a16:creationId xmlns:a16="http://schemas.microsoft.com/office/drawing/2014/main" id="{15D1033A-AA34-0ABD-396B-C3EC2281C890}"/>
              </a:ext>
            </a:extLst>
          </p:cNvPr>
          <p:cNvSpPr/>
          <p:nvPr/>
        </p:nvSpPr>
        <p:spPr>
          <a:xfrm>
            <a:off x="5403294" y="5244775"/>
            <a:ext cx="1682496" cy="292608"/>
          </a:xfrm>
          <a:prstGeom prst="rect">
            <a:avLst/>
          </a:prstGeom>
          <a:solidFill>
            <a:srgbClr val="F5E6E8"/>
          </a:solidFill>
          <a:ln w="12700">
            <a:solidFill>
              <a:srgbClr val="C06080"/>
            </a:solidFill>
            <a:prstDash val="solid"/>
          </a:ln>
        </p:spPr>
      </p:sp>
      <p:sp>
        <p:nvSpPr>
          <p:cNvPr id="225" name="Text 74">
            <a:extLst>
              <a:ext uri="{FF2B5EF4-FFF2-40B4-BE49-F238E27FC236}">
                <a16:creationId xmlns:a16="http://schemas.microsoft.com/office/drawing/2014/main" id="{2ABA23F5-2A5A-B8D7-5660-5F2A2726799B}"/>
              </a:ext>
            </a:extLst>
          </p:cNvPr>
          <p:cNvSpPr/>
          <p:nvPr/>
        </p:nvSpPr>
        <p:spPr>
          <a:xfrm>
            <a:off x="5403294" y="5244775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8B2040"/>
                </a:solidFill>
                <a:latin typeface="Calibri"/>
                <a:ea typeface="Calibri"/>
                <a:cs typeface="Calibri"/>
              </a:rPr>
              <a:t>Manual Power BI refresh only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26" name="Shape 75">
            <a:extLst>
              <a:ext uri="{FF2B5EF4-FFF2-40B4-BE49-F238E27FC236}">
                <a16:creationId xmlns:a16="http://schemas.microsoft.com/office/drawing/2014/main" id="{B7998FC6-4D8F-36E9-B2EA-7E4A9E2BA165}"/>
              </a:ext>
            </a:extLst>
          </p:cNvPr>
          <p:cNvSpPr/>
          <p:nvPr/>
        </p:nvSpPr>
        <p:spPr>
          <a:xfrm>
            <a:off x="7207710" y="5244775"/>
            <a:ext cx="1682496" cy="292608"/>
          </a:xfrm>
          <a:prstGeom prst="rect">
            <a:avLst/>
          </a:prstGeom>
          <a:solidFill>
            <a:srgbClr val="F5E6E8"/>
          </a:solidFill>
          <a:ln w="12700">
            <a:solidFill>
              <a:srgbClr val="C06080"/>
            </a:solidFill>
            <a:prstDash val="solid"/>
          </a:ln>
        </p:spPr>
      </p:sp>
      <p:sp>
        <p:nvSpPr>
          <p:cNvPr id="227" name="Text 76">
            <a:extLst>
              <a:ext uri="{FF2B5EF4-FFF2-40B4-BE49-F238E27FC236}">
                <a16:creationId xmlns:a16="http://schemas.microsoft.com/office/drawing/2014/main" id="{ADBC34DD-3BDE-8FE4-6EBC-143F72E3408C}"/>
              </a:ext>
            </a:extLst>
          </p:cNvPr>
          <p:cNvSpPr/>
          <p:nvPr/>
        </p:nvSpPr>
        <p:spPr>
          <a:xfrm>
            <a:off x="7207710" y="5244775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8B2040"/>
                </a:solidFill>
                <a:latin typeface="Calibri"/>
                <a:ea typeface="Calibri"/>
                <a:cs typeface="Calibri"/>
              </a:rPr>
              <a:t>Single tenant tested only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  <p:sp>
        <p:nvSpPr>
          <p:cNvPr id="228" name="Shape 77">
            <a:extLst>
              <a:ext uri="{FF2B5EF4-FFF2-40B4-BE49-F238E27FC236}">
                <a16:creationId xmlns:a16="http://schemas.microsoft.com/office/drawing/2014/main" id="{C659E619-8839-F99D-363C-13CEB89CD38B}"/>
              </a:ext>
            </a:extLst>
          </p:cNvPr>
          <p:cNvSpPr/>
          <p:nvPr/>
        </p:nvSpPr>
        <p:spPr>
          <a:xfrm>
            <a:off x="9012126" y="5244775"/>
            <a:ext cx="1682496" cy="292608"/>
          </a:xfrm>
          <a:prstGeom prst="rect">
            <a:avLst/>
          </a:prstGeom>
          <a:solidFill>
            <a:srgbClr val="F5E6E8"/>
          </a:solidFill>
          <a:ln w="12700">
            <a:solidFill>
              <a:srgbClr val="C06080"/>
            </a:solidFill>
            <a:prstDash val="solid"/>
          </a:ln>
        </p:spPr>
      </p:sp>
      <p:sp>
        <p:nvSpPr>
          <p:cNvPr id="229" name="Text 78">
            <a:extLst>
              <a:ext uri="{FF2B5EF4-FFF2-40B4-BE49-F238E27FC236}">
                <a16:creationId xmlns:a16="http://schemas.microsoft.com/office/drawing/2014/main" id="{C518AC4E-7EB5-53B7-7343-2976464209A2}"/>
              </a:ext>
            </a:extLst>
          </p:cNvPr>
          <p:cNvSpPr/>
          <p:nvPr/>
        </p:nvSpPr>
        <p:spPr>
          <a:xfrm>
            <a:off x="9012126" y="5244775"/>
            <a:ext cx="1682496" cy="29260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050">
                <a:solidFill>
                  <a:srgbClr val="8B2040"/>
                </a:solidFill>
                <a:latin typeface="Calibri"/>
                <a:ea typeface="Calibri"/>
                <a:cs typeface="Calibri"/>
              </a:rPr>
              <a:t>DLP/Retention null without E5</a:t>
            </a:r>
            <a:endParaRPr lang="en-US" sz="1050">
              <a:latin typeface="Aptos Light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488" y="78046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chemeClr val="accent4">
                    <a:lumMod val="10000"/>
                  </a:schemeClr>
                </a:solidFill>
                <a:latin typeface="+mj-lt"/>
                <a:ea typeface="Calibri"/>
                <a:cs typeface="Calibri"/>
              </a:rPr>
              <a:t> EXTRACTION MODULES + TIMELINE OUTPUT</a:t>
            </a:r>
          </a:p>
        </p:txBody>
      </p:sp>
      <p:sp>
        <p:nvSpPr>
          <p:cNvPr id="4" name="Shape 2"/>
          <p:cNvSpPr/>
          <p:nvPr/>
        </p:nvSpPr>
        <p:spPr>
          <a:xfrm>
            <a:off x="443291" y="1160123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3291" y="1160123"/>
            <a:ext cx="219456" cy="837819"/>
          </a:xfrm>
          <a:prstGeom prst="rect">
            <a:avLst/>
          </a:prstGeom>
          <a:solidFill>
            <a:schemeClr val="accent1">
              <a:lumMod val="2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784667" y="1208891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audit_logs_signin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84667" y="1647803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161851" y="1251563"/>
            <a:ext cx="5425440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events - user identity, IP address, device, location, success/failure, risk state, Conditional Access</a:t>
            </a:r>
            <a:endParaRPr lang="en-US" sz="1267"/>
          </a:p>
        </p:txBody>
      </p:sp>
      <p:sp>
        <p:nvSpPr>
          <p:cNvPr id="9" name="Shape 7"/>
          <p:cNvSpPr/>
          <p:nvPr/>
        </p:nvSpPr>
        <p:spPr>
          <a:xfrm>
            <a:off x="9587291" y="1282043"/>
            <a:ext cx="2072640" cy="628364"/>
          </a:xfrm>
          <a:prstGeom prst="rect">
            <a:avLst/>
          </a:prstGeom>
          <a:solidFill>
            <a:schemeClr val="accent1">
              <a:alpha val="15000"/>
            </a:scheme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7291" y="1282043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records / 14.7% fail rate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43291" y="2043431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291" y="2039836"/>
            <a:ext cx="219456" cy="837819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784667" y="2088604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file_metadata_summary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84667" y="2527516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161851" y="2137372"/>
            <a:ext cx="5608320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SharePoint &amp; OneDrive - name, type, size, sensitivity label (or absence), sharing state</a:t>
            </a:r>
            <a:endParaRPr lang="en-US" sz="1267"/>
          </a:p>
        </p:txBody>
      </p:sp>
      <p:sp>
        <p:nvSpPr>
          <p:cNvPr id="16" name="Shape 14"/>
          <p:cNvSpPr/>
          <p:nvPr/>
        </p:nvSpPr>
        <p:spPr>
          <a:xfrm>
            <a:off x="9587291" y="2140291"/>
            <a:ext cx="2072640" cy="628364"/>
          </a:xfrm>
          <a:prstGeom prst="rect">
            <a:avLst/>
          </a:prstGeom>
          <a:solidFill>
            <a:schemeClr val="accent4">
              <a:alpha val="15000"/>
            </a:scheme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7291" y="2140291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files / 100% shared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32558" y="2919549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558" y="2919549"/>
            <a:ext cx="219456" cy="837819"/>
          </a:xfrm>
          <a:prstGeom prst="rect">
            <a:avLst/>
          </a:prstGeom>
          <a:solidFill>
            <a:schemeClr val="accent5">
              <a:lumMod val="25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773934" y="2968317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sharing_permissions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773934" y="3407229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Collaboration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151118" y="3017085"/>
            <a:ext cx="5354955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permission records - grantee, access level, anonymous links, external user flags, exposure level</a:t>
            </a:r>
            <a:endParaRPr lang="en-US" sz="1267"/>
          </a:p>
        </p:txBody>
      </p:sp>
      <p:sp>
        <p:nvSpPr>
          <p:cNvPr id="23" name="Shape 21"/>
          <p:cNvSpPr/>
          <p:nvPr/>
        </p:nvSpPr>
        <p:spPr>
          <a:xfrm>
            <a:off x="9576558" y="3041469"/>
            <a:ext cx="2072640" cy="628364"/>
          </a:xfrm>
          <a:prstGeom prst="rect">
            <a:avLst/>
          </a:prstGeom>
          <a:solidFill>
            <a:schemeClr val="accent5">
              <a:alpha val="15000"/>
            </a:scheme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6558" y="3041469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permissions / 0 anonymous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32558" y="3799262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58" y="3799262"/>
            <a:ext cx="219456" cy="837819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773934" y="3848030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purview_labels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773934" y="4286942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Protection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151118" y="3896798"/>
            <a:ext cx="5608320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 assignments per file from Microsoft Purview - label name, level, protection applied</a:t>
            </a:r>
            <a:endParaRPr lang="en-US" sz="1267"/>
          </a:p>
        </p:txBody>
      </p:sp>
      <p:sp>
        <p:nvSpPr>
          <p:cNvPr id="30" name="Shape 28"/>
          <p:cNvSpPr/>
          <p:nvPr/>
        </p:nvSpPr>
        <p:spPr>
          <a:xfrm>
            <a:off x="9576558" y="3921182"/>
            <a:ext cx="2072640" cy="628364"/>
          </a:xfrm>
          <a:prstGeom prst="rect">
            <a:avLst/>
          </a:prstGeom>
          <a:solidFill>
            <a:schemeClr val="accent6">
              <a:alpha val="1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6558" y="3921182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labels configured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432558" y="4678975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2558" y="4678975"/>
            <a:ext cx="219456" cy="837819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34" name="Text 32"/>
          <p:cNvSpPr/>
          <p:nvPr/>
        </p:nvSpPr>
        <p:spPr>
          <a:xfrm>
            <a:off x="773934" y="4727743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dlp_extractor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773934" y="5166655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4151118" y="4776511"/>
            <a:ext cx="5354955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match records - policy name, rule, match count, violation indicators. E5 license required.</a:t>
            </a:r>
            <a:endParaRPr lang="en-US" sz="1267"/>
          </a:p>
        </p:txBody>
      </p:sp>
      <p:sp>
        <p:nvSpPr>
          <p:cNvPr id="37" name="Shape 35"/>
          <p:cNvSpPr/>
          <p:nvPr/>
        </p:nvSpPr>
        <p:spPr>
          <a:xfrm>
            <a:off x="9576558" y="4800895"/>
            <a:ext cx="2072640" cy="628364"/>
          </a:xfrm>
          <a:prstGeom prst="rect">
            <a:avLst/>
          </a:prstGeom>
          <a:solidFill>
            <a:schemeClr val="accent3">
              <a:alpha val="15000"/>
            </a:scheme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76558" y="4800895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match detected (TFN)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432558" y="5558688"/>
            <a:ext cx="11460480" cy="8378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2558" y="5558688"/>
            <a:ext cx="219456" cy="83781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/>
        </p:spPr>
      </p:sp>
      <p:sp>
        <p:nvSpPr>
          <p:cNvPr id="41" name="Text 39"/>
          <p:cNvSpPr/>
          <p:nvPr/>
        </p:nvSpPr>
        <p:spPr>
          <a:xfrm>
            <a:off x="773934" y="5607456"/>
            <a:ext cx="3169920" cy="3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773934" y="6046368"/>
            <a:ext cx="3169920" cy="29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Audit Trail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4151118" y="5656224"/>
            <a:ext cx="5608320" cy="68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FILE_CREATED, FILE_MODIFIED, VERSION_CREATED, PERMISSION_GRANTED, USER_SIGNIN events into one chronological log</a:t>
            </a:r>
            <a:endParaRPr lang="en-US" sz="1267"/>
          </a:p>
        </p:txBody>
      </p:sp>
      <p:sp>
        <p:nvSpPr>
          <p:cNvPr id="44" name="Shape 42"/>
          <p:cNvSpPr/>
          <p:nvPr/>
        </p:nvSpPr>
        <p:spPr>
          <a:xfrm>
            <a:off x="9576558" y="5680608"/>
            <a:ext cx="2072640" cy="628364"/>
          </a:xfrm>
          <a:prstGeom prst="rect">
            <a:avLst/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76558" y="5680608"/>
            <a:ext cx="2072640" cy="62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 output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8600" y="146304"/>
            <a:ext cx="112928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>
                <a:solidFill>
                  <a:srgbClr val="57660A"/>
                </a:solidFill>
                <a:latin typeface="+mj-lt"/>
                <a:ea typeface="Calibri" pitchFamily="34" charset="-122"/>
                <a:cs typeface="Calibri" pitchFamily="34" charset="-120"/>
              </a:rPr>
              <a:t>TECHNOLOGY STACK &amp; KEY DESIGN DECISIONS</a:t>
            </a:r>
            <a:endParaRPr lang="en-US" sz="3600">
              <a:solidFill>
                <a:srgbClr val="57660A"/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1036320"/>
            <a:ext cx="5852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67"/>
          </a:p>
        </p:txBody>
      </p:sp>
      <p:sp>
        <p:nvSpPr>
          <p:cNvPr id="5" name="Shape 3"/>
          <p:cNvSpPr/>
          <p:nvPr/>
        </p:nvSpPr>
        <p:spPr>
          <a:xfrm>
            <a:off x="487680" y="1584960"/>
            <a:ext cx="5852160" cy="829056"/>
          </a:xfrm>
          <a:prstGeom prst="rect">
            <a:avLst/>
          </a:prstGeom>
          <a:solidFill>
            <a:schemeClr val="tx2">
              <a:lumMod val="10000"/>
              <a:lumOff val="90000"/>
              <a:alpha val="4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560" y="1633728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70560" y="197510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library support, team expertise, full pipeline control (</a:t>
            </a:r>
            <a:r>
              <a:rPr lang="en-US" sz="1333" err="1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</a:t>
            </a:r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requests, </a:t>
            </a:r>
            <a:r>
              <a:rPr lang="en-US" sz="1333" err="1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azure-functions)</a:t>
            </a:r>
            <a:endParaRPr lang="en-US" sz="1333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2523744"/>
            <a:ext cx="5852160" cy="829056"/>
          </a:xfrm>
          <a:prstGeom prst="rect">
            <a:avLst/>
          </a:prstGeom>
          <a:solidFill>
            <a:schemeClr val="tx2">
              <a:lumMod val="10000"/>
              <a:lumOff val="90000"/>
              <a:alpha val="4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" y="2572512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+ OAuth 2.0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70560" y="2913888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Client Credentials - no user login required at runtime</a:t>
            </a:r>
            <a:endParaRPr lang="en-US" sz="1333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3462528"/>
            <a:ext cx="5852160" cy="829056"/>
          </a:xfrm>
          <a:prstGeom prst="rect">
            <a:avLst/>
          </a:prstGeom>
          <a:solidFill>
            <a:schemeClr val="tx2">
              <a:lumMod val="10000"/>
              <a:lumOff val="90000"/>
              <a:alpha val="4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560" y="351129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v1.0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70560" y="3852672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API for audit logs, file metadata, sharing permissions</a:t>
            </a:r>
            <a:endParaRPr lang="en-US" sz="1333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4401312"/>
            <a:ext cx="5852160" cy="829056"/>
          </a:xfrm>
          <a:prstGeom prst="rect">
            <a:avLst/>
          </a:prstGeom>
          <a:solidFill>
            <a:schemeClr val="tx2">
              <a:lumMod val="10000"/>
              <a:lumOff val="90000"/>
              <a:alpha val="4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560" y="445008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Scheduled Flow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70560" y="479145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08:00 AM trigger - runs extraction pipeline automatically with automated extraction with manual Power BI refresh</a:t>
            </a:r>
            <a:endParaRPr lang="en-US" sz="1333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5340096"/>
            <a:ext cx="5852160" cy="829056"/>
          </a:xfrm>
          <a:prstGeom prst="rect">
            <a:avLst/>
          </a:prstGeom>
          <a:solidFill>
            <a:schemeClr val="tx2">
              <a:lumMod val="10000"/>
              <a:lumOff val="90000"/>
              <a:alpha val="45000"/>
            </a:scheme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" y="538886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70560" y="573024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Governance dashboard connected directly to JSON + CSV output files</a:t>
            </a:r>
            <a:endParaRPr lang="en-US" sz="1333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5600" y="103632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867"/>
          </a:p>
        </p:txBody>
      </p:sp>
      <p:sp>
        <p:nvSpPr>
          <p:cNvPr id="21" name="Shape 19"/>
          <p:cNvSpPr/>
          <p:nvPr/>
        </p:nvSpPr>
        <p:spPr>
          <a:xfrm>
            <a:off x="6705600" y="1584960"/>
            <a:ext cx="4998720" cy="938784"/>
          </a:xfrm>
          <a:prstGeom prst="rect">
            <a:avLst/>
          </a:prstGeom>
          <a:solidFill>
            <a:schemeClr val="tx2">
              <a:lumMod val="10000"/>
              <a:lumOff val="90000"/>
              <a:alpha val="40000"/>
            </a:scheme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8480" y="1645920"/>
            <a:ext cx="4632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Utility Pattern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6888480" y="1962912"/>
            <a:ext cx="4632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throttle_handler.py, exporter.py and logger.py are imported by all 6 modules - no code duplication across extractors.</a:t>
            </a:r>
            <a:endParaRPr lang="en-US" sz="1267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05600" y="2694432"/>
            <a:ext cx="4998720" cy="1158240"/>
          </a:xfrm>
          <a:prstGeom prst="rect">
            <a:avLst/>
          </a:prstGeom>
          <a:solidFill>
            <a:schemeClr val="tx2">
              <a:lumMod val="10000"/>
              <a:lumOff val="90000"/>
              <a:alpha val="40000"/>
            </a:scheme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8480" y="2767584"/>
            <a:ext cx="4632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Envelope (Schema v2.0.0)</a:t>
            </a:r>
            <a:endParaRPr lang="en-US" sz="1467"/>
          </a:p>
        </p:txBody>
      </p:sp>
      <p:sp>
        <p:nvSpPr>
          <p:cNvPr id="26" name="Text 24"/>
          <p:cNvSpPr/>
          <p:nvPr/>
        </p:nvSpPr>
        <p:spPr>
          <a:xfrm>
            <a:off x="6888480" y="3157728"/>
            <a:ext cx="4632960" cy="54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JSON output includes a </a:t>
            </a:r>
            <a:r>
              <a:rPr lang="en-US" sz="1267" err="1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sentinel_export</a:t>
            </a:r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block (module, timestamp, </a:t>
            </a:r>
            <a:r>
              <a:rPr lang="en-US" sz="1267" err="1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record_count</a:t>
            </a:r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ShadowSight validation.</a:t>
            </a:r>
            <a:endParaRPr lang="en-US" sz="1267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05600" y="4005073"/>
            <a:ext cx="4998720" cy="1158240"/>
          </a:xfrm>
          <a:prstGeom prst="rect">
            <a:avLst/>
          </a:prstGeom>
          <a:solidFill>
            <a:schemeClr val="tx2">
              <a:lumMod val="10000"/>
              <a:lumOff val="90000"/>
              <a:alpha val="40000"/>
            </a:scheme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8480" y="4120896"/>
            <a:ext cx="463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Permissions</a:t>
            </a:r>
            <a:endParaRPr lang="en-US" sz="1467"/>
          </a:p>
        </p:txBody>
      </p:sp>
      <p:sp>
        <p:nvSpPr>
          <p:cNvPr id="29" name="Text 27"/>
          <p:cNvSpPr/>
          <p:nvPr/>
        </p:nvSpPr>
        <p:spPr>
          <a:xfrm>
            <a:off x="6888480" y="4443223"/>
            <a:ext cx="4632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API permissions are read-only Application type. </a:t>
            </a:r>
            <a:r>
              <a:rPr lang="en-US" sz="1267" err="1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Sites.FullControl</a:t>
            </a:r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0" name="Shape 28"/>
          <p:cNvSpPr/>
          <p:nvPr/>
        </p:nvSpPr>
        <p:spPr>
          <a:xfrm>
            <a:off x="6705600" y="5425440"/>
            <a:ext cx="4998720" cy="1158240"/>
          </a:xfrm>
          <a:prstGeom prst="rect">
            <a:avLst/>
          </a:prstGeom>
          <a:solidFill>
            <a:schemeClr val="tx2">
              <a:lumMod val="10000"/>
              <a:lumOff val="90000"/>
              <a:alpha val="40000"/>
            </a:scheme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8480" y="5486400"/>
            <a:ext cx="4632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ThrottleHandler (429 Retry)</a:t>
            </a:r>
            <a:endParaRPr lang="en-US" sz="1467"/>
          </a:p>
        </p:txBody>
      </p:sp>
      <p:sp>
        <p:nvSpPr>
          <p:cNvPr id="32" name="Text 30"/>
          <p:cNvSpPr/>
          <p:nvPr/>
        </p:nvSpPr>
        <p:spPr>
          <a:xfrm>
            <a:off x="6888480" y="5876544"/>
            <a:ext cx="4632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chemeClr val="accent4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Retry-After header, waits, retries up to 5 times. Both live extractions confirmed correct handling.</a:t>
            </a:r>
            <a:endParaRPr lang="en-US" sz="1267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9184" y="37795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>
                <a:solidFill>
                  <a:srgbClr val="38194F"/>
                </a:solidFill>
                <a:latin typeface="+mj-lt"/>
                <a:ea typeface="Calibri" pitchFamily="34" charset="-122"/>
                <a:cs typeface="Calibri" pitchFamily="34" charset="-120"/>
              </a:rPr>
              <a:t>LIVE EXTRACTION RESULTS </a:t>
            </a:r>
            <a:endParaRPr lang="en-US" sz="3600">
              <a:solidFill>
                <a:srgbClr val="38194F"/>
              </a:solidFill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234440"/>
            <a:ext cx="3779520" cy="633984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62000" y="1277112"/>
            <a:ext cx="37795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33"/>
          </a:p>
        </p:txBody>
      </p:sp>
      <p:sp>
        <p:nvSpPr>
          <p:cNvPr id="8" name="Shape 6"/>
          <p:cNvSpPr/>
          <p:nvPr/>
        </p:nvSpPr>
        <p:spPr>
          <a:xfrm>
            <a:off x="5059680" y="1219200"/>
            <a:ext cx="2072640" cy="6339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59680" y="1219200"/>
            <a:ext cx="2072640" cy="6339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</a:t>
            </a:r>
          </a:p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May 2026)</a:t>
            </a:r>
            <a:endParaRPr lang="en-US" sz="1333"/>
          </a:p>
        </p:txBody>
      </p:sp>
      <p:sp>
        <p:nvSpPr>
          <p:cNvPr id="10" name="Shape 8"/>
          <p:cNvSpPr/>
          <p:nvPr/>
        </p:nvSpPr>
        <p:spPr>
          <a:xfrm>
            <a:off x="7760208" y="1219200"/>
            <a:ext cx="3048000" cy="6339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60208" y="1219200"/>
            <a:ext cx="30480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Status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762000" y="1905000"/>
            <a:ext cx="3779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29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Sign-in Records</a:t>
            </a:r>
            <a:endParaRPr lang="en-US" sz="1267"/>
          </a:p>
        </p:txBody>
      </p:sp>
      <p:sp>
        <p:nvSpPr>
          <p:cNvPr id="16" name="Shape 14"/>
          <p:cNvSpPr/>
          <p:nvPr/>
        </p:nvSpPr>
        <p:spPr>
          <a:xfrm>
            <a:off x="5059680" y="1889760"/>
            <a:ext cx="2072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914144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1267"/>
          </a:p>
        </p:txBody>
      </p:sp>
      <p:sp>
        <p:nvSpPr>
          <p:cNvPr id="18" name="Shape 16"/>
          <p:cNvSpPr/>
          <p:nvPr/>
        </p:nvSpPr>
        <p:spPr>
          <a:xfrm>
            <a:off x="7760208" y="1889760"/>
            <a:ext cx="3048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1168" y="19141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Full coverage</a:t>
            </a:r>
            <a:endParaRPr lang="en-US" sz="1267"/>
          </a:p>
        </p:txBody>
      </p:sp>
      <p:sp>
        <p:nvSpPr>
          <p:cNvPr id="20" name="Shape 18"/>
          <p:cNvSpPr/>
          <p:nvPr/>
        </p:nvSpPr>
        <p:spPr>
          <a:xfrm>
            <a:off x="762000" y="2380488"/>
            <a:ext cx="377952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404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Logins</a:t>
            </a:r>
            <a:endParaRPr lang="en-US" sz="1267"/>
          </a:p>
        </p:txBody>
      </p:sp>
      <p:sp>
        <p:nvSpPr>
          <p:cNvPr id="24" name="Shape 22"/>
          <p:cNvSpPr/>
          <p:nvPr/>
        </p:nvSpPr>
        <p:spPr>
          <a:xfrm>
            <a:off x="5059680" y="2365248"/>
            <a:ext cx="207264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89632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(85.3%)</a:t>
            </a:r>
            <a:endParaRPr lang="en-US" sz="1267"/>
          </a:p>
        </p:txBody>
      </p:sp>
      <p:sp>
        <p:nvSpPr>
          <p:cNvPr id="26" name="Shape 24"/>
          <p:cNvSpPr/>
          <p:nvPr/>
        </p:nvSpPr>
        <p:spPr>
          <a:xfrm>
            <a:off x="7760208" y="2365248"/>
            <a:ext cx="304800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21168" y="2389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Normal range</a:t>
            </a:r>
            <a:endParaRPr lang="en-US" sz="1267"/>
          </a:p>
        </p:txBody>
      </p:sp>
      <p:sp>
        <p:nvSpPr>
          <p:cNvPr id="28" name="Shape 26"/>
          <p:cNvSpPr/>
          <p:nvPr/>
        </p:nvSpPr>
        <p:spPr>
          <a:xfrm>
            <a:off x="762000" y="2855976"/>
            <a:ext cx="3779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Logins</a:t>
            </a:r>
            <a:endParaRPr lang="en-US" sz="1267"/>
          </a:p>
        </p:txBody>
      </p:sp>
      <p:sp>
        <p:nvSpPr>
          <p:cNvPr id="32" name="Shape 30"/>
          <p:cNvSpPr/>
          <p:nvPr/>
        </p:nvSpPr>
        <p:spPr>
          <a:xfrm>
            <a:off x="5059680" y="2840736"/>
            <a:ext cx="2072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86512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(14.7%)</a:t>
            </a:r>
            <a:endParaRPr lang="en-US" sz="1267"/>
          </a:p>
        </p:txBody>
      </p:sp>
      <p:sp>
        <p:nvSpPr>
          <p:cNvPr id="34" name="Shape 32"/>
          <p:cNvSpPr/>
          <p:nvPr/>
        </p:nvSpPr>
        <p:spPr>
          <a:xfrm>
            <a:off x="7760208" y="2840736"/>
            <a:ext cx="3048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1168" y="2865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Monitor closely</a:t>
            </a:r>
            <a:endParaRPr lang="en-US" sz="1267"/>
          </a:p>
        </p:txBody>
      </p:sp>
      <p:sp>
        <p:nvSpPr>
          <p:cNvPr id="36" name="Shape 34"/>
          <p:cNvSpPr/>
          <p:nvPr/>
        </p:nvSpPr>
        <p:spPr>
          <a:xfrm>
            <a:off x="762000" y="3331464"/>
            <a:ext cx="377952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355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Sign-ins</a:t>
            </a:r>
            <a:endParaRPr lang="en-US" sz="1267"/>
          </a:p>
        </p:txBody>
      </p:sp>
      <p:sp>
        <p:nvSpPr>
          <p:cNvPr id="40" name="Shape 38"/>
          <p:cNvSpPr/>
          <p:nvPr/>
        </p:nvSpPr>
        <p:spPr>
          <a:xfrm>
            <a:off x="5059680" y="3316224"/>
            <a:ext cx="207264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3340608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7"/>
          </a:p>
        </p:txBody>
      </p:sp>
      <p:sp>
        <p:nvSpPr>
          <p:cNvPr id="42" name="Shape 40"/>
          <p:cNvSpPr/>
          <p:nvPr/>
        </p:nvSpPr>
        <p:spPr>
          <a:xfrm>
            <a:off x="7760208" y="3316224"/>
            <a:ext cx="304800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21168" y="3340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CLEAR</a:t>
            </a:r>
            <a:endParaRPr lang="en-US" sz="1267"/>
          </a:p>
        </p:txBody>
      </p:sp>
      <p:sp>
        <p:nvSpPr>
          <p:cNvPr id="44" name="Shape 42"/>
          <p:cNvSpPr/>
          <p:nvPr/>
        </p:nvSpPr>
        <p:spPr>
          <a:xfrm>
            <a:off x="762000" y="3806952"/>
            <a:ext cx="3779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831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Metadata Records</a:t>
            </a:r>
            <a:endParaRPr lang="en-US" sz="1267"/>
          </a:p>
        </p:txBody>
      </p:sp>
      <p:sp>
        <p:nvSpPr>
          <p:cNvPr id="48" name="Shape 46"/>
          <p:cNvSpPr/>
          <p:nvPr/>
        </p:nvSpPr>
        <p:spPr>
          <a:xfrm>
            <a:off x="5059680" y="3791712"/>
            <a:ext cx="2072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3816096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67"/>
          </a:p>
        </p:txBody>
      </p:sp>
      <p:sp>
        <p:nvSpPr>
          <p:cNvPr id="50" name="Shape 48"/>
          <p:cNvSpPr/>
          <p:nvPr/>
        </p:nvSpPr>
        <p:spPr>
          <a:xfrm>
            <a:off x="7760208" y="3791712"/>
            <a:ext cx="3048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21168" y="38160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Extracted</a:t>
            </a:r>
            <a:endParaRPr lang="en-US" sz="1267"/>
          </a:p>
        </p:txBody>
      </p:sp>
      <p:sp>
        <p:nvSpPr>
          <p:cNvPr id="52" name="Shape 50"/>
          <p:cNvSpPr/>
          <p:nvPr/>
        </p:nvSpPr>
        <p:spPr>
          <a:xfrm>
            <a:off x="762000" y="4282440"/>
            <a:ext cx="377952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43068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Sensitivity Labelled</a:t>
            </a:r>
            <a:endParaRPr lang="en-US" sz="1267"/>
          </a:p>
        </p:txBody>
      </p:sp>
      <p:sp>
        <p:nvSpPr>
          <p:cNvPr id="56" name="Shape 54"/>
          <p:cNvSpPr/>
          <p:nvPr/>
        </p:nvSpPr>
        <p:spPr>
          <a:xfrm>
            <a:off x="5059680" y="4267200"/>
            <a:ext cx="207264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4291584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26 files </a:t>
            </a:r>
            <a:r>
              <a:rPr lang="en-US" sz="1267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</a:t>
            </a: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-HIGH RISK</a:t>
            </a:r>
            <a:endParaRPr lang="en-US" sz="1267"/>
          </a:p>
        </p:txBody>
      </p:sp>
      <p:sp>
        <p:nvSpPr>
          <p:cNvPr id="58" name="Shape 56"/>
          <p:cNvSpPr/>
          <p:nvPr/>
        </p:nvSpPr>
        <p:spPr>
          <a:xfrm>
            <a:off x="7760208" y="4267200"/>
            <a:ext cx="304800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21168" y="42915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HIGH RISK - uplift labels</a:t>
            </a:r>
            <a:endParaRPr lang="en-US" sz="1267"/>
          </a:p>
        </p:txBody>
      </p:sp>
      <p:sp>
        <p:nvSpPr>
          <p:cNvPr id="60" name="Shape 58"/>
          <p:cNvSpPr/>
          <p:nvPr/>
        </p:nvSpPr>
        <p:spPr>
          <a:xfrm>
            <a:off x="762000" y="4757928"/>
            <a:ext cx="3779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4782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Permissions</a:t>
            </a:r>
            <a:endParaRPr lang="en-US" sz="1267"/>
          </a:p>
        </p:txBody>
      </p:sp>
      <p:sp>
        <p:nvSpPr>
          <p:cNvPr id="64" name="Shape 62"/>
          <p:cNvSpPr/>
          <p:nvPr/>
        </p:nvSpPr>
        <p:spPr>
          <a:xfrm>
            <a:off x="5059680" y="4742688"/>
            <a:ext cx="2072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0" y="4767072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267"/>
          </a:p>
        </p:txBody>
      </p:sp>
      <p:sp>
        <p:nvSpPr>
          <p:cNvPr id="66" name="Shape 64"/>
          <p:cNvSpPr/>
          <p:nvPr/>
        </p:nvSpPr>
        <p:spPr>
          <a:xfrm>
            <a:off x="7760208" y="4742688"/>
            <a:ext cx="3048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21168" y="47670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Extracted</a:t>
            </a:r>
            <a:endParaRPr lang="en-US" sz="1267"/>
          </a:p>
        </p:txBody>
      </p:sp>
      <p:sp>
        <p:nvSpPr>
          <p:cNvPr id="68" name="Shape 66"/>
          <p:cNvSpPr/>
          <p:nvPr/>
        </p:nvSpPr>
        <p:spPr>
          <a:xfrm>
            <a:off x="762000" y="5233416"/>
            <a:ext cx="377952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Links</a:t>
            </a:r>
            <a:endParaRPr lang="en-US" sz="1267"/>
          </a:p>
        </p:txBody>
      </p:sp>
      <p:sp>
        <p:nvSpPr>
          <p:cNvPr id="72" name="Shape 70"/>
          <p:cNvSpPr/>
          <p:nvPr/>
        </p:nvSpPr>
        <p:spPr>
          <a:xfrm>
            <a:off x="5059680" y="5218176"/>
            <a:ext cx="207264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524256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7"/>
          </a:p>
        </p:txBody>
      </p:sp>
      <p:sp>
        <p:nvSpPr>
          <p:cNvPr id="74" name="Shape 72"/>
          <p:cNvSpPr/>
          <p:nvPr/>
        </p:nvSpPr>
        <p:spPr>
          <a:xfrm>
            <a:off x="7760208" y="5218176"/>
            <a:ext cx="304800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21168" y="5242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CLEAR</a:t>
            </a:r>
            <a:endParaRPr lang="en-US" sz="1267"/>
          </a:p>
        </p:txBody>
      </p:sp>
      <p:sp>
        <p:nvSpPr>
          <p:cNvPr id="76" name="Shape 74"/>
          <p:cNvSpPr/>
          <p:nvPr/>
        </p:nvSpPr>
        <p:spPr>
          <a:xfrm>
            <a:off x="762000" y="5708904"/>
            <a:ext cx="3779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" y="5733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Users</a:t>
            </a:r>
            <a:endParaRPr lang="en-US" sz="1267"/>
          </a:p>
        </p:txBody>
      </p:sp>
      <p:sp>
        <p:nvSpPr>
          <p:cNvPr id="80" name="Shape 78"/>
          <p:cNvSpPr/>
          <p:nvPr/>
        </p:nvSpPr>
        <p:spPr>
          <a:xfrm>
            <a:off x="5059680" y="5693664"/>
            <a:ext cx="2072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0" y="5718048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7"/>
          </a:p>
        </p:txBody>
      </p:sp>
      <p:sp>
        <p:nvSpPr>
          <p:cNvPr id="82" name="Shape 80"/>
          <p:cNvSpPr/>
          <p:nvPr/>
        </p:nvSpPr>
        <p:spPr>
          <a:xfrm>
            <a:off x="7760208" y="5693664"/>
            <a:ext cx="3048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21168" y="5718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CLEAR</a:t>
            </a:r>
            <a:endParaRPr lang="en-US" sz="1267"/>
          </a:p>
        </p:txBody>
      </p:sp>
      <p:sp>
        <p:nvSpPr>
          <p:cNvPr id="84" name="Shape 82"/>
          <p:cNvSpPr/>
          <p:nvPr/>
        </p:nvSpPr>
        <p:spPr>
          <a:xfrm>
            <a:off x="762000" y="6184392"/>
            <a:ext cx="377952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" y="6208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Produced (JSON+CSV)</a:t>
            </a:r>
            <a:endParaRPr lang="en-US" sz="1267"/>
          </a:p>
        </p:txBody>
      </p:sp>
      <p:sp>
        <p:nvSpPr>
          <p:cNvPr id="88" name="Shape 86"/>
          <p:cNvSpPr/>
          <p:nvPr/>
        </p:nvSpPr>
        <p:spPr>
          <a:xfrm>
            <a:off x="5059680" y="6169152"/>
            <a:ext cx="207264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20640" y="6193536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9</a:t>
            </a:r>
            <a:endParaRPr lang="en-US" sz="1267"/>
          </a:p>
        </p:txBody>
      </p:sp>
      <p:sp>
        <p:nvSpPr>
          <p:cNvPr id="90" name="Shape 88"/>
          <p:cNvSpPr/>
          <p:nvPr/>
        </p:nvSpPr>
        <p:spPr>
          <a:xfrm>
            <a:off x="7760208" y="6169152"/>
            <a:ext cx="3048000" cy="438912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21168" y="6193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Complete</a:t>
            </a:r>
            <a:endParaRPr lang="en-US" sz="12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2" y="262905"/>
            <a:ext cx="12124220" cy="634752"/>
          </a:xfrm>
          <a:prstGeom prst="rect">
            <a:avLst/>
          </a:prstGeom>
          <a:solidFill>
            <a:srgbClr val="A870D2"/>
          </a:solidFill>
          <a:ln w="12700">
            <a:solidFill>
              <a:srgbClr val="0F2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7274" y="257577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SENTINEL - Code Challenges &amp; Fixes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93994" y="257577"/>
            <a:ext cx="37490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Vanka Manjunath  |  API Developer  |  SL25ULBA047</a:t>
            </a:r>
          </a:p>
        </p:txBody>
      </p:sp>
      <p:sp>
        <p:nvSpPr>
          <p:cNvPr id="6" name="Shape 4"/>
          <p:cNvSpPr/>
          <p:nvPr/>
        </p:nvSpPr>
        <p:spPr>
          <a:xfrm>
            <a:off x="201554" y="1007385"/>
            <a:ext cx="2834640" cy="1737360"/>
          </a:xfrm>
          <a:prstGeom prst="rect">
            <a:avLst/>
          </a:prstGeom>
          <a:solidFill>
            <a:srgbClr val="F9F7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554" y="1007385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554" y="1007385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49026" y="1062249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Indentation Error</a:t>
            </a:r>
            <a:endParaRPr lang="en-US" sz="1150">
              <a:solidFill>
                <a:srgbClr val="7030A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9026" y="1354857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026" y="1409721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9026" y="1556025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3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function body in analyse_file_metadata()</a:t>
            </a:r>
            <a:endParaRPr lang="en-US" sz="1200">
              <a:solidFill>
                <a:srgbClr val="1E230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9026" y="2058945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49026" y="221439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3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pass statement then built full analysis logic</a:t>
            </a:r>
            <a:endParaRPr lang="en-US" sz="1200">
              <a:solidFill>
                <a:srgbClr val="1E230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73354" y="1007385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3354" y="1007385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3354" y="1007385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520826" y="1062249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Overwrite</a:t>
            </a:r>
            <a:endParaRPr lang="en-US" sz="115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20826" y="1354857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826" y="1409721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3520826" y="1556025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Accidentally replaced entire file_metadata.py in Notepad</a:t>
            </a:r>
          </a:p>
        </p:txBody>
      </p:sp>
      <p:sp>
        <p:nvSpPr>
          <p:cNvPr id="22" name="Text 20"/>
          <p:cNvSpPr/>
          <p:nvPr/>
        </p:nvSpPr>
        <p:spPr>
          <a:xfrm>
            <a:off x="3520826" y="2058945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520826" y="221439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Rewrote all 8 methods from scratch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145154" y="1007385"/>
            <a:ext cx="2834640" cy="1737360"/>
          </a:xfrm>
          <a:prstGeom prst="rect">
            <a:avLst/>
          </a:prstGeom>
          <a:solidFill>
            <a:schemeClr val="bg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5154" y="1007385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5154" y="1007385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492626" y="1062249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 on Response</a:t>
            </a:r>
            <a:endParaRPr lang="en-US" sz="115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92626" y="1354857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626" y="1409721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492626" y="1556025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_paginate() called .get() on HTTP Response object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492626" y="2058945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492626" y="221439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.json() to parse response before reading fields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9116954" y="1007385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16954" y="1007385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16954" y="1007385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9464426" y="1062249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returns None</a:t>
            </a:r>
            <a:endParaRPr lang="en-US" sz="115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4426" y="1354857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426" y="1409721"/>
            <a:ext cx="82011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9464426" y="1556025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file_metadata run() had no return statement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9464426" y="2058945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9464426" y="221439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return {'file_records': ..., 'summary': ...}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201554" y="2854473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554" y="2854473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554" y="2854473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49026" y="2909337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Missing files</a:t>
            </a:r>
            <a:endParaRPr lang="en-US" sz="1150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49026" y="3201945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26" y="3256809"/>
            <a:ext cx="886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549026" y="3403113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latin typeface="Calibri"/>
                <a:ea typeface="Calibri"/>
                <a:cs typeface="Calibri"/>
              </a:rPr>
              <a:t>Extractor only scanned root - subfolders ignored</a:t>
            </a:r>
          </a:p>
        </p:txBody>
      </p:sp>
      <p:sp>
        <p:nvSpPr>
          <p:cNvPr id="49" name="Text 47"/>
          <p:cNvSpPr/>
          <p:nvPr/>
        </p:nvSpPr>
        <p:spPr>
          <a:xfrm>
            <a:off x="549026" y="3906033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549026" y="4061481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recursive _get_files_recursive() traversal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3173354" y="2854473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73354" y="2854473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73354" y="2854473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3520826" y="2909337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Stale __</a:t>
            </a:r>
            <a:r>
              <a:rPr lang="en-US" sz="1150" b="1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pycache</a:t>
            </a: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__</a:t>
            </a:r>
            <a:endParaRPr lang="en-US" sz="1150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520826" y="3201945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826" y="3256809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3520826" y="340311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Python loaded old compiled .pyc after code fixes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3520826" y="3906033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3520826" y="4061481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Deleted all __pycache__ folders before re-running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6145154" y="2854473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5154" y="2854473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5154" y="2854473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63" name="Text 61"/>
          <p:cNvSpPr/>
          <p:nvPr/>
        </p:nvSpPr>
        <p:spPr>
          <a:xfrm>
            <a:off x="6492626" y="2909337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Audit returns None</a:t>
            </a:r>
            <a:endParaRPr lang="en-US" sz="1150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492626" y="3201945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64194" y="3273868"/>
            <a:ext cx="816362" cy="1532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PROBLEM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492626" y="340311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AuditLogExtractor run() missing return statement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6492626" y="3906033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68" name="Text 66"/>
          <p:cNvSpPr/>
          <p:nvPr/>
        </p:nvSpPr>
        <p:spPr>
          <a:xfrm>
            <a:off x="6492626" y="4061481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return dict with signin, directory, activity keys</a:t>
            </a:r>
            <a:endParaRPr lang="en-US" sz="1200"/>
          </a:p>
        </p:txBody>
      </p:sp>
      <p:sp>
        <p:nvSpPr>
          <p:cNvPr id="69" name="Shape 67"/>
          <p:cNvSpPr/>
          <p:nvPr/>
        </p:nvSpPr>
        <p:spPr>
          <a:xfrm>
            <a:off x="9116954" y="2854473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16954" y="2854473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16954" y="2854473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9464426" y="2909337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None on </a:t>
            </a:r>
            <a:r>
              <a:rPr lang="en-US" sz="1150" b="1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initiatedBy</a:t>
            </a:r>
            <a:endParaRPr lang="en-US" sz="1150" err="1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464426" y="3201945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41680" y="3262495"/>
            <a:ext cx="833423" cy="1589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PROBLEM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464426" y="3403113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Some audit records had initiatedBy: null - crashed on .get()</a:t>
            </a:r>
            <a:endParaRPr lang="en-US" sz="1200"/>
          </a:p>
        </p:txBody>
      </p:sp>
      <p:sp>
        <p:nvSpPr>
          <p:cNvPr id="76" name="Text 74"/>
          <p:cNvSpPr/>
          <p:nvPr/>
        </p:nvSpPr>
        <p:spPr>
          <a:xfrm>
            <a:off x="9464426" y="3906033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9464426" y="4061481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(r.get('initiatedBy') or {}).get('user') or {}</a:t>
            </a:r>
            <a:endParaRPr lang="en-US" sz="1200"/>
          </a:p>
        </p:txBody>
      </p:sp>
      <p:sp>
        <p:nvSpPr>
          <p:cNvPr id="78" name="Shape 76"/>
          <p:cNvSpPr/>
          <p:nvPr/>
        </p:nvSpPr>
        <p:spPr>
          <a:xfrm>
            <a:off x="201554" y="4701561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1554" y="4701561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1554" y="4701561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81" name="Text 79"/>
          <p:cNvSpPr/>
          <p:nvPr/>
        </p:nvSpPr>
        <p:spPr>
          <a:xfrm>
            <a:off x="549026" y="4756425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Excel </a:t>
            </a:r>
            <a:r>
              <a:rPr lang="en-US" sz="1150" b="1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PermissionError</a:t>
            </a:r>
            <a:endParaRPr lang="en-US" sz="1150" err="1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49026" y="5049033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9026" y="5103897"/>
            <a:ext cx="777240" cy="198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84" name="Text 82"/>
          <p:cNvSpPr/>
          <p:nvPr/>
        </p:nvSpPr>
        <p:spPr>
          <a:xfrm>
            <a:off x="549026" y="5250201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Pipeline ran while extraction_history.xlsx open in Excel</a:t>
            </a:r>
          </a:p>
        </p:txBody>
      </p:sp>
      <p:sp>
        <p:nvSpPr>
          <p:cNvPr id="85" name="Text 83"/>
          <p:cNvSpPr/>
          <p:nvPr/>
        </p:nvSpPr>
        <p:spPr>
          <a:xfrm>
            <a:off x="549026" y="5795751"/>
            <a:ext cx="36576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FIX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549026" y="5908569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Close Excel before every pipeline run</a:t>
            </a:r>
            <a:endParaRPr lang="en-US" sz="1200"/>
          </a:p>
        </p:txBody>
      </p:sp>
      <p:sp>
        <p:nvSpPr>
          <p:cNvPr id="87" name="Shape 85"/>
          <p:cNvSpPr/>
          <p:nvPr/>
        </p:nvSpPr>
        <p:spPr>
          <a:xfrm>
            <a:off x="3173354" y="4701561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73354" y="4701561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73354" y="4701561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sp>
        <p:nvSpPr>
          <p:cNvPr id="90" name="Text 88"/>
          <p:cNvSpPr/>
          <p:nvPr/>
        </p:nvSpPr>
        <p:spPr>
          <a:xfrm>
            <a:off x="3520826" y="4756425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ModuleNotFoundError</a:t>
            </a:r>
            <a:endParaRPr lang="en-US" sz="1150" err="1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3520826" y="5049033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20826" y="5103897"/>
            <a:ext cx="777240" cy="198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93" name="Text 91"/>
          <p:cNvSpPr/>
          <p:nvPr/>
        </p:nvSpPr>
        <p:spPr>
          <a:xfrm>
            <a:off x="3520826" y="5250201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System Python had no MSAL/requests/</a:t>
            </a:r>
            <a:r>
              <a:rPr lang="en-US" sz="1200" err="1">
                <a:latin typeface="Calibri"/>
                <a:ea typeface="Calibri"/>
                <a:cs typeface="Calibri"/>
              </a:rPr>
              <a:t>openpyxl</a:t>
            </a:r>
            <a:r>
              <a:rPr lang="en-US" sz="1200">
                <a:latin typeface="Calibri"/>
                <a:ea typeface="Calibri"/>
                <a:cs typeface="Calibri"/>
              </a:rPr>
              <a:t> packages</a:t>
            </a:r>
          </a:p>
        </p:txBody>
      </p:sp>
      <p:sp>
        <p:nvSpPr>
          <p:cNvPr id="94" name="Text 92"/>
          <p:cNvSpPr/>
          <p:nvPr/>
        </p:nvSpPr>
        <p:spPr>
          <a:xfrm>
            <a:off x="3520826" y="5753121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95" name="Text 93"/>
          <p:cNvSpPr/>
          <p:nvPr/>
        </p:nvSpPr>
        <p:spPr>
          <a:xfrm>
            <a:off x="3520826" y="5908569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Used full path:</a:t>
            </a:r>
            <a:endParaRPr lang="en-US" sz="1200"/>
          </a:p>
        </p:txBody>
      </p:sp>
      <p:sp>
        <p:nvSpPr>
          <p:cNvPr id="96" name="Shape 94"/>
          <p:cNvSpPr/>
          <p:nvPr/>
        </p:nvSpPr>
        <p:spPr>
          <a:xfrm>
            <a:off x="6145154" y="4701561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45154" y="4701561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45154" y="4701561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sp>
        <p:nvSpPr>
          <p:cNvPr id="99" name="Text 97"/>
          <p:cNvSpPr/>
          <p:nvPr/>
        </p:nvSpPr>
        <p:spPr>
          <a:xfrm>
            <a:off x="6492626" y="4756425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HTTP 403 Crash</a:t>
            </a:r>
            <a:endParaRPr lang="en-US" sz="1150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6492626" y="5049033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492626" y="5103897"/>
            <a:ext cx="777240" cy="198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102" name="Text 100"/>
          <p:cNvSpPr/>
          <p:nvPr/>
        </p:nvSpPr>
        <p:spPr>
          <a:xfrm>
            <a:off x="6492626" y="5250201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Personal OneDrive sites returned 403 - pipeline crashed</a:t>
            </a:r>
          </a:p>
        </p:txBody>
      </p:sp>
      <p:sp>
        <p:nvSpPr>
          <p:cNvPr id="103" name="Text 101"/>
          <p:cNvSpPr/>
          <p:nvPr/>
        </p:nvSpPr>
        <p:spPr>
          <a:xfrm>
            <a:off x="6492626" y="5753121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/>
          </a:p>
        </p:txBody>
      </p:sp>
      <p:sp>
        <p:nvSpPr>
          <p:cNvPr id="104" name="Text 102"/>
          <p:cNvSpPr/>
          <p:nvPr/>
        </p:nvSpPr>
        <p:spPr>
          <a:xfrm>
            <a:off x="6492626" y="5908569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Added try/except to skip 403 sites and continue</a:t>
            </a:r>
            <a:endParaRPr lang="en-US" sz="1200"/>
          </a:p>
        </p:txBody>
      </p:sp>
      <p:sp>
        <p:nvSpPr>
          <p:cNvPr id="105" name="Shape 103"/>
          <p:cNvSpPr/>
          <p:nvPr/>
        </p:nvSpPr>
        <p:spPr>
          <a:xfrm>
            <a:off x="9116954" y="4701561"/>
            <a:ext cx="2834640" cy="1737360"/>
          </a:xfrm>
          <a:prstGeom prst="rect">
            <a:avLst/>
          </a:prstGeom>
          <a:solidFill>
            <a:schemeClr val="bg1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16954" y="4701561"/>
            <a:ext cx="292608" cy="173736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116954" y="4701561"/>
            <a:ext cx="292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/>
          </a:p>
        </p:txBody>
      </p:sp>
      <p:sp>
        <p:nvSpPr>
          <p:cNvPr id="108" name="Text 106"/>
          <p:cNvSpPr/>
          <p:nvPr/>
        </p:nvSpPr>
        <p:spPr>
          <a:xfrm>
            <a:off x="9464426" y="4756425"/>
            <a:ext cx="243230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Power Automate Error</a:t>
            </a:r>
            <a:endParaRPr lang="en-US" sz="1150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9464426" y="5049033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464426" y="5103897"/>
            <a:ext cx="820116" cy="198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/>
          </a:p>
        </p:txBody>
      </p:sp>
      <p:sp>
        <p:nvSpPr>
          <p:cNvPr id="111" name="Text 109"/>
          <p:cNvSpPr/>
          <p:nvPr/>
        </p:nvSpPr>
        <p:spPr>
          <a:xfrm>
            <a:off x="9464426" y="5250201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Teams Graph HTTP connector rejected /</a:t>
            </a:r>
            <a:r>
              <a:rPr lang="en-US" sz="1200" err="1">
                <a:latin typeface="Calibri"/>
                <a:ea typeface="Calibri"/>
                <a:cs typeface="Calibri"/>
              </a:rPr>
              <a:t>sites?search</a:t>
            </a:r>
            <a:r>
              <a:rPr lang="en-US" sz="1200">
                <a:latin typeface="Calibri"/>
                <a:ea typeface="Calibri"/>
                <a:cs typeface="Calibri"/>
              </a:rPr>
              <a:t>=* URI</a:t>
            </a:r>
          </a:p>
        </p:txBody>
      </p:sp>
      <p:sp>
        <p:nvSpPr>
          <p:cNvPr id="112" name="Text 110"/>
          <p:cNvSpPr/>
          <p:nvPr/>
        </p:nvSpPr>
        <p:spPr>
          <a:xfrm>
            <a:off x="9464426" y="5753121"/>
            <a:ext cx="36576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FIX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9464426" y="5908569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SharePoint HTTP connector + REST API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GOVERNANCE RISK FINDINGS - Latest Scan: 21 May 2026</a:t>
            </a:r>
            <a:endParaRPr lang="en-US" sz="280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182624"/>
            <a:ext cx="11460480" cy="950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2624"/>
            <a:ext cx="182880" cy="9509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9241536" y="1328928"/>
            <a:ext cx="999744" cy="3901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9241536" y="1328928"/>
            <a:ext cx="9997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70560" y="1231392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Classification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4328160" y="1280160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0080" y="1231392"/>
            <a:ext cx="4693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files labelled 'Internal' only - HR &amp; Finance folders require Confidential / Highly Confidential labels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9204960" y="1280160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90304" y="1231392"/>
            <a:ext cx="237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33"/>
          </a:p>
        </p:txBody>
      </p:sp>
      <p:sp>
        <p:nvSpPr>
          <p:cNvPr id="13" name="Shape 11"/>
          <p:cNvSpPr/>
          <p:nvPr/>
        </p:nvSpPr>
        <p:spPr>
          <a:xfrm>
            <a:off x="365760" y="2255520"/>
            <a:ext cx="11460480" cy="950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55520"/>
            <a:ext cx="182880" cy="9509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9241536" y="2401824"/>
            <a:ext cx="999744" cy="390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241536" y="2401824"/>
            <a:ext cx="9997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70560" y="230428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File Sharing</a:t>
            </a:r>
            <a:endParaRPr lang="en-US" sz="1467"/>
          </a:p>
        </p:txBody>
      </p:sp>
      <p:sp>
        <p:nvSpPr>
          <p:cNvPr id="18" name="Shape 16"/>
          <p:cNvSpPr/>
          <p:nvPr/>
        </p:nvSpPr>
        <p:spPr>
          <a:xfrm>
            <a:off x="4328160" y="2353056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0080" y="2304288"/>
            <a:ext cx="4693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 files shared - unclassified content accessible beyond a single user, increasing data exposure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9204960" y="2353056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2304288"/>
            <a:ext cx="237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33"/>
          </a:p>
        </p:txBody>
      </p:sp>
      <p:sp>
        <p:nvSpPr>
          <p:cNvPr id="22" name="Shape 20"/>
          <p:cNvSpPr/>
          <p:nvPr/>
        </p:nvSpPr>
        <p:spPr>
          <a:xfrm>
            <a:off x="365760" y="3328416"/>
            <a:ext cx="11460480" cy="950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28416"/>
            <a:ext cx="182880" cy="9509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1536" y="3474720"/>
            <a:ext cx="999744" cy="390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241536" y="3474720"/>
            <a:ext cx="9997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70560" y="3377184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in Simulation Mode</a:t>
            </a:r>
            <a:endParaRPr lang="en-US" sz="1467"/>
          </a:p>
        </p:txBody>
      </p:sp>
      <p:sp>
        <p:nvSpPr>
          <p:cNvPr id="27" name="Shape 25"/>
          <p:cNvSpPr/>
          <p:nvPr/>
        </p:nvSpPr>
        <p:spPr>
          <a:xfrm>
            <a:off x="4328160" y="3425952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0080" y="3377184"/>
            <a:ext cx="4693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Sentinel-DLP-Policy runs in simulation only - violations detected but NOT blocked. 1 match found (TFN)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9204960" y="3425952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0304" y="3377184"/>
            <a:ext cx="237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33"/>
          </a:p>
        </p:txBody>
      </p:sp>
      <p:sp>
        <p:nvSpPr>
          <p:cNvPr id="31" name="Shape 29"/>
          <p:cNvSpPr/>
          <p:nvPr/>
        </p:nvSpPr>
        <p:spPr>
          <a:xfrm>
            <a:off x="365760" y="4401312"/>
            <a:ext cx="11460480" cy="950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01312"/>
            <a:ext cx="182880" cy="9509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31"/>
          <p:cNvSpPr/>
          <p:nvPr/>
        </p:nvSpPr>
        <p:spPr>
          <a:xfrm>
            <a:off x="9241536" y="4547616"/>
            <a:ext cx="999744" cy="390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9241536" y="4547616"/>
            <a:ext cx="9997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670560" y="4450080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Internal Access</a:t>
            </a:r>
            <a:endParaRPr lang="en-US" sz="1467"/>
          </a:p>
        </p:txBody>
      </p:sp>
      <p:sp>
        <p:nvSpPr>
          <p:cNvPr id="36" name="Shape 34"/>
          <p:cNvSpPr/>
          <p:nvPr/>
        </p:nvSpPr>
        <p:spPr>
          <a:xfrm>
            <a:off x="4328160" y="4498848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0080" y="4450080"/>
            <a:ext cx="4693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permissions - Members hold Edit access by default; may grant modification rights more widely than needed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9204960" y="4498848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90304" y="4450080"/>
            <a:ext cx="237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33"/>
          </a:p>
        </p:txBody>
      </p:sp>
      <p:sp>
        <p:nvSpPr>
          <p:cNvPr id="40" name="Shape 38"/>
          <p:cNvSpPr/>
          <p:nvPr/>
        </p:nvSpPr>
        <p:spPr>
          <a:xfrm>
            <a:off x="365760" y="5474208"/>
            <a:ext cx="11460480" cy="950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5474208"/>
            <a:ext cx="182880" cy="9509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Shape 40"/>
          <p:cNvSpPr/>
          <p:nvPr/>
        </p:nvSpPr>
        <p:spPr>
          <a:xfrm>
            <a:off x="9241536" y="5620512"/>
            <a:ext cx="999744" cy="390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9241536" y="5620512"/>
            <a:ext cx="9997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670560" y="5522976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Threat Detection</a:t>
            </a:r>
            <a:endParaRPr lang="en-US" sz="1467"/>
          </a:p>
        </p:txBody>
      </p:sp>
      <p:sp>
        <p:nvSpPr>
          <p:cNvPr id="45" name="Shape 43"/>
          <p:cNvSpPr/>
          <p:nvPr/>
        </p:nvSpPr>
        <p:spPr>
          <a:xfrm>
            <a:off x="4328160" y="5571744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50080" y="5522976"/>
            <a:ext cx="4693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audit records captured; 0 risky sign-ins flagged; reactive monitoring only - no Entra ID Protection active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9204960" y="5571744"/>
            <a:ext cx="0" cy="75590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90304" y="5522976"/>
            <a:ext cx="237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33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8590" y="165462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>
                <a:latin typeface="+mj-lt"/>
                <a:ea typeface="Calibri" pitchFamily="34" charset="-122"/>
                <a:cs typeface="Calibri" pitchFamily="34" charset="-120"/>
              </a:rPr>
              <a:t>POWER BI GOVERNANCE DASHBOARD</a:t>
            </a:r>
            <a:endParaRPr lang="en-US" sz="320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8590" y="814088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by </a:t>
            </a:r>
            <a:r>
              <a:rPr lang="en-US" sz="1600" i="1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Bharanee</a:t>
            </a:r>
            <a:r>
              <a:rPr lang="en-US" sz="1600" i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Raghav </a:t>
            </a:r>
            <a:r>
              <a:rPr lang="en-US" sz="1600" i="1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Murru</a:t>
            </a:r>
            <a:r>
              <a:rPr lang="en-US" sz="1600" i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- 3 DAX bugs fixed  .  101 = files flagged high-risk via editable sharing permissions   1.2K = cumulative login events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41120"/>
            <a:ext cx="3474720" cy="2438400"/>
          </a:xfrm>
          <a:prstGeom prst="rect">
            <a:avLst/>
          </a:prstGeom>
          <a:solidFill>
            <a:srgbClr val="E7F9F9">
              <a:alpha val="34902"/>
            </a:srgbClr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41120"/>
            <a:ext cx="3474720" cy="548640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1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Audit Monitoring</a:t>
            </a:r>
            <a:endParaRPr lang="en-US" sz="1333"/>
          </a:p>
        </p:txBody>
      </p:sp>
      <p:sp>
        <p:nvSpPr>
          <p:cNvPr id="8" name="Text 6"/>
          <p:cNvSpPr/>
          <p:nvPr/>
        </p:nvSpPr>
        <p:spPr>
          <a:xfrm>
            <a:off x="694944" y="1975104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Total Logins: 1.2K (cumulative across all runs)</a:t>
            </a:r>
            <a:endParaRPr lang="en-US" sz="1267"/>
          </a:p>
        </p:txBody>
      </p:sp>
      <p:sp>
        <p:nvSpPr>
          <p:cNvPr id="9" name="Text 7"/>
          <p:cNvSpPr/>
          <p:nvPr/>
        </p:nvSpPr>
        <p:spPr>
          <a:xfrm>
            <a:off x="694944" y="2414016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Top user: Yaswanth </a:t>
            </a:r>
            <a:r>
              <a:rPr lang="en-US" sz="1267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Kanderi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 (354 sign-in events), RK (330), Vanka (309)</a:t>
            </a:r>
            <a:endParaRPr lang="en-US" sz="1267"/>
          </a:p>
        </p:txBody>
      </p:sp>
      <p:sp>
        <p:nvSpPr>
          <p:cNvPr id="10" name="Text 8"/>
          <p:cNvSpPr/>
          <p:nvPr/>
        </p:nvSpPr>
        <p:spPr>
          <a:xfrm>
            <a:off x="694944" y="2852928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Login Activity Over Time: line chart by date</a:t>
            </a:r>
            <a:endParaRPr lang="en-US" sz="1267"/>
          </a:p>
        </p:txBody>
      </p:sp>
      <p:sp>
        <p:nvSpPr>
          <p:cNvPr id="11" name="Text 9"/>
          <p:cNvSpPr/>
          <p:nvPr/>
        </p:nvSpPr>
        <p:spPr>
          <a:xfrm>
            <a:off x="694944" y="3291840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Sharing Exposure: 267 Internal | 101 Editable | 40 Restricted</a:t>
            </a:r>
            <a:endParaRPr lang="en-US" sz="1267"/>
          </a:p>
        </p:txBody>
      </p:sp>
      <p:sp>
        <p:nvSpPr>
          <p:cNvPr id="12" name="Shape 10"/>
          <p:cNvSpPr/>
          <p:nvPr/>
        </p:nvSpPr>
        <p:spPr>
          <a:xfrm>
            <a:off x="4328160" y="1341120"/>
            <a:ext cx="3474720" cy="2438400"/>
          </a:xfrm>
          <a:prstGeom prst="rect">
            <a:avLst/>
          </a:prstGeom>
          <a:solidFill>
            <a:schemeClr val="bg2">
              <a:alpha val="35000"/>
            </a:schemeClr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8160" y="1341120"/>
            <a:ext cx="3474720" cy="5486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4328160" y="1341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File Insights</a:t>
            </a:r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4474464" y="1975104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Files: 26</a:t>
            </a:r>
            <a:endParaRPr lang="en-US" sz="1267"/>
          </a:p>
        </p:txBody>
      </p:sp>
      <p:sp>
        <p:nvSpPr>
          <p:cNvPr id="16" name="Text 14"/>
          <p:cNvSpPr/>
          <p:nvPr/>
        </p:nvSpPr>
        <p:spPr>
          <a:xfrm>
            <a:off x="4474464" y="2414016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Passwords: 90.2% without / 9.8% with password</a:t>
            </a:r>
            <a:endParaRPr lang="en-US" sz="1267"/>
          </a:p>
        </p:txBody>
      </p:sp>
      <p:sp>
        <p:nvSpPr>
          <p:cNvPr id="17" name="Text 15"/>
          <p:cNvSpPr/>
          <p:nvPr/>
        </p:nvSpPr>
        <p:spPr>
          <a:xfrm>
            <a:off x="4474464" y="2852928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Files: 8 files (Budget, Employee, Contracts...)</a:t>
            </a:r>
            <a:endParaRPr lang="en-US" sz="1267"/>
          </a:p>
        </p:txBody>
      </p:sp>
      <p:sp>
        <p:nvSpPr>
          <p:cNvPr id="18" name="Text 16"/>
          <p:cNvSpPr/>
          <p:nvPr/>
        </p:nvSpPr>
        <p:spPr>
          <a:xfrm>
            <a:off x="4474464" y="3291840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Files by Link Type: edit links most common</a:t>
            </a:r>
            <a:endParaRPr lang="en-US" sz="1267"/>
          </a:p>
        </p:txBody>
      </p:sp>
      <p:sp>
        <p:nvSpPr>
          <p:cNvPr id="19" name="Shape 17"/>
          <p:cNvSpPr/>
          <p:nvPr/>
        </p:nvSpPr>
        <p:spPr>
          <a:xfrm>
            <a:off x="8107680" y="1341120"/>
            <a:ext cx="3474720" cy="2438400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7680" y="1341120"/>
            <a:ext cx="3474720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8107680" y="1341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3: Governance &amp; Compliance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8253984" y="1975104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Shared Records: 408 (permission records, not unique files)</a:t>
            </a:r>
            <a:endParaRPr lang="en-US" sz="1267"/>
          </a:p>
        </p:txBody>
      </p:sp>
      <p:sp>
        <p:nvSpPr>
          <p:cNvPr id="23" name="Text 21"/>
          <p:cNvSpPr/>
          <p:nvPr/>
        </p:nvSpPr>
        <p:spPr>
          <a:xfrm>
            <a:off x="8253984" y="2414016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MEDIUM - Compliance Visibility: PARTIAL</a:t>
            </a:r>
            <a:endParaRPr lang="en-US" sz="1267"/>
          </a:p>
        </p:txBody>
      </p:sp>
      <p:sp>
        <p:nvSpPr>
          <p:cNvPr id="24" name="Text 22"/>
          <p:cNvSpPr/>
          <p:nvPr/>
        </p:nvSpPr>
        <p:spPr>
          <a:xfrm>
            <a:off x="8253984" y="2852928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Risk: High editable files, frequent access, no labels applied</a:t>
            </a:r>
            <a:endParaRPr lang="en-US" sz="1267"/>
          </a:p>
        </p:txBody>
      </p:sp>
      <p:sp>
        <p:nvSpPr>
          <p:cNvPr id="25" name="Text 23"/>
          <p:cNvSpPr/>
          <p:nvPr/>
        </p:nvSpPr>
        <p:spPr>
          <a:xfrm>
            <a:off x="8253984" y="3291840"/>
            <a:ext cx="323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DLP in simulation mode - 1 sensitive match detected</a:t>
            </a:r>
            <a:endParaRPr lang="en-US" sz="1267"/>
          </a:p>
        </p:txBody>
      </p:sp>
      <p:sp>
        <p:nvSpPr>
          <p:cNvPr id="26" name="Shape 24"/>
          <p:cNvSpPr/>
          <p:nvPr/>
        </p:nvSpPr>
        <p:spPr>
          <a:xfrm>
            <a:off x="2767584" y="4020040"/>
            <a:ext cx="3413760" cy="2438400"/>
          </a:xfrm>
          <a:prstGeom prst="rect">
            <a:avLst/>
          </a:prstGeom>
          <a:solidFill>
            <a:schemeClr val="accent1">
              <a:alpha val="35000"/>
            </a:schemeClr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67584" y="3965176"/>
            <a:ext cx="3413760" cy="548640"/>
          </a:xfrm>
          <a:prstGeom prst="rect">
            <a:avLst/>
          </a:prstGeom>
          <a:solidFill>
            <a:schemeClr val="accent1">
              <a:lumMod val="25000"/>
            </a:schemeClr>
          </a:solidFill>
          <a:ln/>
        </p:spPr>
      </p:sp>
      <p:sp>
        <p:nvSpPr>
          <p:cNvPr id="28" name="Text 26"/>
          <p:cNvSpPr/>
          <p:nvPr/>
        </p:nvSpPr>
        <p:spPr>
          <a:xfrm>
            <a:off x="2767584" y="3965176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4: Tenant Overview</a:t>
            </a:r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2913888" y="4599160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Files: 26 | Total Users: 5</a:t>
            </a:r>
            <a:endParaRPr lang="en-US" sz="1267"/>
          </a:p>
        </p:txBody>
      </p:sp>
      <p:sp>
        <p:nvSpPr>
          <p:cNvPr id="30" name="Text 28"/>
          <p:cNvSpPr/>
          <p:nvPr/>
        </p:nvSpPr>
        <p:spPr>
          <a:xfrm>
            <a:off x="2913888" y="5038072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Files: 101 (editable sharing permissions)</a:t>
            </a:r>
            <a:endParaRPr lang="en-US" sz="1267"/>
          </a:p>
        </p:txBody>
      </p:sp>
      <p:sp>
        <p:nvSpPr>
          <p:cNvPr id="31" name="Text 29"/>
          <p:cNvSpPr/>
          <p:nvPr/>
        </p:nvSpPr>
        <p:spPr>
          <a:xfrm>
            <a:off x="2913888" y="5476984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Total Audit Events: 1.2K</a:t>
            </a:r>
            <a:endParaRPr lang="en-US" sz="1267"/>
          </a:p>
        </p:txBody>
      </p:sp>
      <p:sp>
        <p:nvSpPr>
          <p:cNvPr id="32" name="Text 30"/>
          <p:cNvSpPr/>
          <p:nvPr/>
        </p:nvSpPr>
        <p:spPr>
          <a:xfrm>
            <a:off x="2895600" y="5842744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Summary: Risk Level MEDIUM across tenant</a:t>
            </a:r>
            <a:endParaRPr lang="en-US" sz="1267"/>
          </a:p>
        </p:txBody>
      </p:sp>
      <p:sp>
        <p:nvSpPr>
          <p:cNvPr id="33" name="Shape 31"/>
          <p:cNvSpPr/>
          <p:nvPr/>
        </p:nvSpPr>
        <p:spPr>
          <a:xfrm>
            <a:off x="6539484" y="3965176"/>
            <a:ext cx="3413760" cy="2438400"/>
          </a:xfrm>
          <a:prstGeom prst="rect">
            <a:avLst/>
          </a:prstGeom>
          <a:solidFill>
            <a:schemeClr val="accent3">
              <a:lumMod val="20000"/>
              <a:lumOff val="80000"/>
              <a:alpha val="35000"/>
            </a:schemeClr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47104" y="3965176"/>
            <a:ext cx="3413760" cy="548640"/>
          </a:xfrm>
          <a:prstGeom prst="rect">
            <a:avLst/>
          </a:prstGeom>
          <a:solidFill>
            <a:srgbClr val="57660A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965176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5: File Activity</a:t>
            </a:r>
            <a:endParaRPr lang="en-US" sz="1333"/>
          </a:p>
        </p:txBody>
      </p:sp>
      <p:sp>
        <p:nvSpPr>
          <p:cNvPr id="36" name="Text 34"/>
          <p:cNvSpPr/>
          <p:nvPr/>
        </p:nvSpPr>
        <p:spPr>
          <a:xfrm>
            <a:off x="6693408" y="4599160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File Activity Trend: line chart by date</a:t>
            </a:r>
            <a:endParaRPr lang="en-US" sz="1267"/>
          </a:p>
        </p:txBody>
      </p:sp>
      <p:sp>
        <p:nvSpPr>
          <p:cNvPr id="37" name="Text 35"/>
          <p:cNvSpPr/>
          <p:nvPr/>
        </p:nvSpPr>
        <p:spPr>
          <a:xfrm>
            <a:off x="6693408" y="5038072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Activity: Yaswanth 354 sign-in events | RK 330 | Vanka 309 | Jaswanthi 184 | Lahari 68</a:t>
            </a:r>
            <a:endParaRPr lang="en-US" sz="1267"/>
          </a:p>
        </p:txBody>
      </p:sp>
      <p:sp>
        <p:nvSpPr>
          <p:cNvPr id="38" name="Text 36"/>
          <p:cNvSpPr/>
          <p:nvPr/>
        </p:nvSpPr>
        <p:spPr>
          <a:xfrm>
            <a:off x="6693408" y="5476984"/>
            <a:ext cx="316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 Distribution: per-file access counts</a:t>
            </a:r>
            <a:endParaRPr lang="en-US" sz="1267"/>
          </a:p>
        </p:txBody>
      </p:sp>
      <p:sp>
        <p:nvSpPr>
          <p:cNvPr id="39" name="Text 37"/>
          <p:cNvSpPr/>
          <p:nvPr/>
        </p:nvSpPr>
        <p:spPr>
          <a:xfrm>
            <a:off x="6693408" y="5854936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Filter by User slicer built in</a:t>
            </a:r>
            <a:endParaRPr lang="en-US" sz="12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64A7-9DB8-FBA2-EDB5-90B991A7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128" y="390525"/>
            <a:ext cx="5098472" cy="5603875"/>
          </a:xfrm>
        </p:spPr>
        <p:txBody>
          <a:bodyPr anchor="b">
            <a:normAutofit/>
          </a:bodyPr>
          <a:lstStyle/>
          <a:p>
            <a:r>
              <a:rPr lang="en-IN" sz="7200"/>
              <a:t>Governance</a:t>
            </a:r>
            <a:br>
              <a:rPr lang="en-IN" sz="7200"/>
            </a:br>
            <a:r>
              <a:rPr lang="en-IN" sz="7200"/>
              <a:t>Outcomes</a:t>
            </a:r>
            <a:br>
              <a:rPr lang="en-IN" sz="5400"/>
            </a:br>
            <a:endParaRPr lang="en-IN" sz="5400" b="1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132A821-CC93-6FFC-8AE8-FA2213E818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9" r="29"/>
          <a:stretch/>
        </p:blipFill>
        <p:spPr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60379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15875" y="-584589"/>
            <a:ext cx="5120640" cy="4876800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06880" y="975360"/>
            <a:ext cx="4267200" cy="4267200"/>
          </a:xfrm>
          <a:prstGeom prst="ellipse">
            <a:avLst/>
          </a:prstGeom>
          <a:solidFill>
            <a:srgbClr val="F9E07A">
              <a:alpha val="70000"/>
            </a:srgbClr>
          </a:solidFill>
          <a:ln w="12700">
            <a:solidFill>
              <a:srgbClr val="F9E07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50720" y="3901440"/>
            <a:ext cx="4632960" cy="3901440"/>
          </a:xfrm>
          <a:prstGeom prst="ellipse">
            <a:avLst/>
          </a:prstGeom>
          <a:solidFill>
            <a:srgbClr val="F5C842">
              <a:alpha val="75000"/>
            </a:srgbClr>
          </a:solidFill>
          <a:ln w="12700">
            <a:solidFill>
              <a:srgbClr val="F5C842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75360" y="1463040"/>
            <a:ext cx="2438400" cy="21945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16640" y="402244"/>
            <a:ext cx="609600" cy="609600"/>
          </a:xfrm>
          <a:prstGeom prst="ellipse">
            <a:avLst/>
          </a:prstGeom>
          <a:solidFill>
            <a:srgbClr val="F9E07A">
              <a:alpha val="60000"/>
            </a:srgbClr>
          </a:solidFill>
          <a:ln w="12700">
            <a:solidFill>
              <a:srgbClr val="F9E07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43360" y="609600"/>
            <a:ext cx="365760" cy="365760"/>
          </a:xfrm>
          <a:prstGeom prst="ellipse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6538" y="762649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4566" y="762649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GOVERNANCE OUTCOME</a:t>
            </a:r>
            <a:endParaRPr lang="en-US" sz="1067"/>
          </a:p>
        </p:txBody>
      </p:sp>
      <p:sp>
        <p:nvSpPr>
          <p:cNvPr id="11" name="Text 9"/>
          <p:cNvSpPr/>
          <p:nvPr/>
        </p:nvSpPr>
        <p:spPr>
          <a:xfrm>
            <a:off x="2804160" y="1414180"/>
            <a:ext cx="902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   Project Sentinel - What We Achieved  |  Sentinals.onmicrosoft.com  | Live Extraction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94432" y="1779940"/>
            <a:ext cx="2097024" cy="1219200"/>
          </a:xfrm>
          <a:prstGeom prst="rect">
            <a:avLst/>
          </a:prstGeom>
          <a:solidFill>
            <a:srgbClr val="D6F0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4432" y="1779940"/>
            <a:ext cx="2097024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4432" y="1853092"/>
            <a:ext cx="20970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>
                <a:solidFill>
                  <a:srgbClr val="0D7377"/>
                </a:solidFill>
                <a:latin typeface="Georgia"/>
              </a:rPr>
              <a:t>354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2694432" y="2511460"/>
            <a:ext cx="2097024" cy="43891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events</a:t>
            </a:r>
            <a:endParaRPr lang="en-US" sz="1000"/>
          </a:p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automatically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913376" y="1779940"/>
            <a:ext cx="2097024" cy="1219200"/>
          </a:xfrm>
          <a:prstGeom prst="rect">
            <a:avLst/>
          </a:prstGeom>
          <a:solidFill>
            <a:srgbClr val="FDE8D8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3376" y="1779940"/>
            <a:ext cx="2097024" cy="7315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3376" y="1853092"/>
            <a:ext cx="20970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>
                <a:solidFill>
                  <a:srgbClr val="E86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800"/>
          </a:p>
        </p:txBody>
      </p:sp>
      <p:sp>
        <p:nvSpPr>
          <p:cNvPr id="19" name="Text 17"/>
          <p:cNvSpPr/>
          <p:nvPr/>
        </p:nvSpPr>
        <p:spPr>
          <a:xfrm>
            <a:off x="4913376" y="2511460"/>
            <a:ext cx="2097024" cy="43891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with full</a:t>
            </a:r>
            <a:endParaRPr lang="en-US" sz="1000"/>
          </a:p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metadata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7132320" y="1779940"/>
            <a:ext cx="2097024" cy="12192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779940"/>
            <a:ext cx="2097024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853092"/>
            <a:ext cx="20970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4800"/>
          </a:p>
        </p:txBody>
      </p:sp>
      <p:sp>
        <p:nvSpPr>
          <p:cNvPr id="23" name="Text 21"/>
          <p:cNvSpPr/>
          <p:nvPr/>
        </p:nvSpPr>
        <p:spPr>
          <a:xfrm>
            <a:off x="7132320" y="2511460"/>
            <a:ext cx="2097024" cy="43891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files</a:t>
            </a:r>
            <a:endParaRPr lang="en-US" sz="1000"/>
          </a:p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flagged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9351264" y="1779940"/>
            <a:ext cx="2097024" cy="1219200"/>
          </a:xfrm>
          <a:prstGeom prst="rect">
            <a:avLst/>
          </a:prstGeom>
          <a:solidFill>
            <a:srgbClr val="D6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1264" y="1779940"/>
            <a:ext cx="2097024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51264" y="1853092"/>
            <a:ext cx="20970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>
                <a:solidFill>
                  <a:srgbClr val="1A7A4A"/>
                </a:solidFill>
                <a:latin typeface="Georgia"/>
              </a:rPr>
              <a:t>12</a:t>
            </a:r>
          </a:p>
        </p:txBody>
      </p:sp>
      <p:sp>
        <p:nvSpPr>
          <p:cNvPr id="27" name="Text 25"/>
          <p:cNvSpPr/>
          <p:nvPr/>
        </p:nvSpPr>
        <p:spPr>
          <a:xfrm>
            <a:off x="9351264" y="2511460"/>
            <a:ext cx="2097024" cy="43891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</a:t>
            </a:r>
            <a:endParaRPr lang="en-US" sz="1000"/>
          </a:p>
          <a:p>
            <a:pPr algn="ctr"/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runs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2706624" y="3121060"/>
            <a:ext cx="2828544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3121060"/>
            <a:ext cx="73152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6624" y="3121060"/>
            <a:ext cx="2828544" cy="414528"/>
          </a:xfrm>
          <a:prstGeom prst="rect">
            <a:avLst/>
          </a:prstGeom>
          <a:solidFill>
            <a:srgbClr val="D6E4F3"/>
          </a:solidFill>
          <a:ln w="12700">
            <a:solidFill>
              <a:srgbClr val="D6E4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28544" y="3121060"/>
            <a:ext cx="26822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🔒  Security &amp; Risk Visibility</a:t>
            </a:r>
            <a:endParaRPr lang="en-US" sz="1200">
              <a:latin typeface="Aptos Light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52928" y="3584356"/>
            <a:ext cx="2609088" cy="202387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26 files had no sensitivity label (0% coverage)</a:t>
            </a:r>
            <a:endParaRPr lang="en-US" sz="1000"/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105 sharing permission records </a:t>
            </a:r>
            <a:r>
              <a:rPr lang="en-US" sz="100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analysed</a:t>
            </a: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for risk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Risk scores calculated: 65 HIGH (</a:t>
            </a:r>
            <a:r>
              <a:rPr lang="en-US" sz="100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anon+no</a:t>
            </a: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expiry), 15 LOW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HR, Finance, Legal folders  all flagged HIGH RISK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0 anonymous links confirmed  internal exposure only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57088" y="3121060"/>
            <a:ext cx="2828544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7088" y="3121060"/>
            <a:ext cx="73152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57088" y="3121060"/>
            <a:ext cx="2828544" cy="414528"/>
          </a:xfrm>
          <a:prstGeom prst="rect">
            <a:avLst/>
          </a:prstGeom>
          <a:solidFill>
            <a:srgbClr val="D6F0F0"/>
          </a:solidFill>
          <a:ln w="12700">
            <a:solidFill>
              <a:srgbClr val="D6F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3121060"/>
            <a:ext cx="26822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Compliance Evidence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5803392" y="3584356"/>
            <a:ext cx="2609088" cy="202387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DLP policy detected Australia Tax File Number  31 May 2026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delivered via Office365Alerts@microsoft.com</a:t>
            </a:r>
            <a:endParaRPr lang="en-US" sz="1000"/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Sentinel-Teams-DLP-Policy active across 5 locations</a:t>
            </a:r>
            <a:endParaRPr lang="en-US" sz="1000"/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envelope on all 9 JSON output files</a:t>
            </a:r>
            <a:endParaRPr lang="en-US" sz="1000"/>
          </a:p>
          <a:p>
            <a:pPr marL="456565" indent="-456565">
              <a:buSzPct val="100000"/>
              <a:buChar char="►"/>
            </a:pPr>
            <a:r>
              <a:rPr lang="en-US" sz="100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dataQualityScore</a:t>
            </a: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: 78/100  validated extraction run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607552" y="3121060"/>
            <a:ext cx="2828544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07552" y="3121060"/>
            <a:ext cx="73152" cy="2560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7552" y="3121060"/>
            <a:ext cx="2828544" cy="414528"/>
          </a:xfrm>
          <a:prstGeom prst="rect">
            <a:avLst/>
          </a:prstGeom>
          <a:solidFill>
            <a:srgbClr val="D6F0E4"/>
          </a:solidFill>
          <a:ln w="12700">
            <a:solidFill>
              <a:srgbClr val="D6F0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29472" y="3121060"/>
            <a:ext cx="26822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Automation Achieved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8753856" y="3584356"/>
            <a:ext cx="2609088" cy="202387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12 consecutive days  all Power Automate runs Succeeded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Zero manual intervention required for daily extraction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extractor modules running in sequence every 08:00 AM</a:t>
            </a:r>
            <a:endParaRPr lang="en-US" sz="1000"/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9 JSON files written per run  schema v2.0.0, 95 fields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►"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Power BI dashboard refreshed 5 tabs, full governance view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804160" y="6522720"/>
            <a:ext cx="9022080" cy="0"/>
          </a:xfrm>
          <a:prstGeom prst="line">
            <a:avLst/>
          </a:prstGeom>
          <a:noFill/>
          <a:ln w="9525">
            <a:solidFill>
              <a:srgbClr val="F9E0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04160" y="6559296"/>
            <a:ext cx="9022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8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>
                <a:solidFill>
                  <a:schemeClr val="accent4">
                    <a:lumMod val="2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REQUIREMENTS TRACEABILITY - Brief vs Delivered</a:t>
            </a:r>
            <a:endParaRPr lang="en-US" sz="2933">
              <a:solidFill>
                <a:schemeClr val="accent4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829056"/>
            <a:ext cx="11216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Brief: Christopher McNaughton, SECMON1  -  All 7 Must-Haves delivered; all Nice-to-Haves met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1194816"/>
            <a:ext cx="5669280" cy="438912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94816"/>
            <a:ext cx="5669280" cy="438912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Requirement (Project Brief)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156960" y="1194816"/>
            <a:ext cx="4511040" cy="438912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6156960" y="1194816"/>
            <a:ext cx="4511040" cy="438912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Team Shadow Stacks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10789920" y="1194816"/>
            <a:ext cx="1097280" cy="438912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1194816"/>
            <a:ext cx="1097280" cy="438912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65760" y="1670304"/>
            <a:ext cx="11521440" cy="5364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3371088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" y="1706880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Governance Data Identification &amp; Mapping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217920" y="1706880"/>
            <a:ext cx="4389120" cy="4632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extraction modules - audit, file, permissions, labels, DLP - all mapped to Graph/SharePoint/Purview APIs</a:t>
            </a:r>
            <a:endParaRPr lang="en-US" sz="1133"/>
          </a:p>
        </p:txBody>
      </p:sp>
      <p:sp>
        <p:nvSpPr>
          <p:cNvPr id="15" name="Shape 13"/>
          <p:cNvSpPr/>
          <p:nvPr/>
        </p:nvSpPr>
        <p:spPr>
          <a:xfrm>
            <a:off x="10887456" y="1755648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7456" y="1755648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17" name="Shape 15"/>
          <p:cNvSpPr/>
          <p:nvPr/>
        </p:nvSpPr>
        <p:spPr>
          <a:xfrm>
            <a:off x="365760" y="2237232"/>
            <a:ext cx="11521440" cy="536448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37232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720" y="2273808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Documented Extraction Framework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6217920" y="2273808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Maintenance Document (64 pp) + User Documentation (34 pp) - full methodology, API mapping, permission model</a:t>
            </a:r>
            <a:endParaRPr lang="en-US" sz="1133"/>
          </a:p>
        </p:txBody>
      </p:sp>
      <p:sp>
        <p:nvSpPr>
          <p:cNvPr id="21" name="Shape 19"/>
          <p:cNvSpPr/>
          <p:nvPr/>
        </p:nvSpPr>
        <p:spPr>
          <a:xfrm>
            <a:off x="10887456" y="2322576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887456" y="2322576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23" name="Shape 21"/>
          <p:cNvSpPr/>
          <p:nvPr/>
        </p:nvSpPr>
        <p:spPr>
          <a:xfrm>
            <a:off x="365760" y="2804160"/>
            <a:ext cx="11521440" cy="5364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804160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720" y="2840736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Reference Architecture Design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217920" y="2840736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UML/architecture diagrams: System Architecture, Use Case, Class, Sequence, Activity, Component, Deployment</a:t>
            </a:r>
            <a:endParaRPr lang="en-US" sz="1133"/>
          </a:p>
        </p:txBody>
      </p:sp>
      <p:sp>
        <p:nvSpPr>
          <p:cNvPr id="27" name="Shape 25"/>
          <p:cNvSpPr/>
          <p:nvPr/>
        </p:nvSpPr>
        <p:spPr>
          <a:xfrm>
            <a:off x="10887456" y="2889504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887456" y="2889504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29" name="Shape 27"/>
          <p:cNvSpPr/>
          <p:nvPr/>
        </p:nvSpPr>
        <p:spPr>
          <a:xfrm>
            <a:off x="365760" y="3371088"/>
            <a:ext cx="11521440" cy="536448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71088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6720" y="3407664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Automated Extraction Tooling (non-interactive)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217920" y="3407664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engine + MSAL OAuth 2.0 Client Credentials - runs fully unattended via Power Automate daily at 08:00</a:t>
            </a:r>
            <a:endParaRPr lang="en-US" sz="1133"/>
          </a:p>
        </p:txBody>
      </p:sp>
      <p:sp>
        <p:nvSpPr>
          <p:cNvPr id="33" name="Shape 31"/>
          <p:cNvSpPr/>
          <p:nvPr/>
        </p:nvSpPr>
        <p:spPr>
          <a:xfrm>
            <a:off x="10887456" y="3456432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10887456" y="3456432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35" name="Shape 33"/>
          <p:cNvSpPr/>
          <p:nvPr/>
        </p:nvSpPr>
        <p:spPr>
          <a:xfrm>
            <a:off x="365760" y="3938016"/>
            <a:ext cx="11521440" cy="5364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938016"/>
            <a:ext cx="5669280" cy="536448"/>
          </a:xfrm>
          <a:prstGeom prst="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6720" y="3974592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Structured Output Schema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6217920" y="3974592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v2.0.0 - 95 fields, 9 categories, provenance envelope - designed for ShadowSight ingestion</a:t>
            </a:r>
            <a:endParaRPr lang="en-US" sz="1133"/>
          </a:p>
        </p:txBody>
      </p:sp>
      <p:sp>
        <p:nvSpPr>
          <p:cNvPr id="39" name="Shape 37"/>
          <p:cNvSpPr/>
          <p:nvPr/>
        </p:nvSpPr>
        <p:spPr>
          <a:xfrm>
            <a:off x="10887456" y="4023360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10887456" y="4023360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41" name="Shape 39"/>
          <p:cNvSpPr/>
          <p:nvPr/>
        </p:nvSpPr>
        <p:spPr>
          <a:xfrm>
            <a:off x="365760" y="4504944"/>
            <a:ext cx="11521440" cy="536448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504944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6720" y="4541520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Operational &amp; Scalability Considerations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6217920" y="4541520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ThrottleHandler (429 retry x5), @odata.nextLink pagination, extraction_history.xlsx run log, data quality score</a:t>
            </a:r>
            <a:endParaRPr lang="en-US" sz="1133"/>
          </a:p>
        </p:txBody>
      </p:sp>
      <p:sp>
        <p:nvSpPr>
          <p:cNvPr id="45" name="Shape 43"/>
          <p:cNvSpPr/>
          <p:nvPr/>
        </p:nvSpPr>
        <p:spPr>
          <a:xfrm>
            <a:off x="10887456" y="4590288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10887456" y="4590288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47" name="Shape 45"/>
          <p:cNvSpPr/>
          <p:nvPr/>
        </p:nvSpPr>
        <p:spPr>
          <a:xfrm>
            <a:off x="365760" y="5071872"/>
            <a:ext cx="11521440" cy="5364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071872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6720" y="5108448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Legal, Privacy &amp; Evidential Integrity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6217920" y="5108448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least-privilege permissions; provenance chain-of-custody; synthetic data only; Key Vault recommendation</a:t>
            </a:r>
            <a:endParaRPr lang="en-US" sz="1133"/>
          </a:p>
        </p:txBody>
      </p:sp>
      <p:sp>
        <p:nvSpPr>
          <p:cNvPr id="51" name="Shape 49"/>
          <p:cNvSpPr/>
          <p:nvPr/>
        </p:nvSpPr>
        <p:spPr>
          <a:xfrm>
            <a:off x="10887456" y="5157216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10887456" y="5157216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53" name="Shape 51"/>
          <p:cNvSpPr/>
          <p:nvPr/>
        </p:nvSpPr>
        <p:spPr>
          <a:xfrm>
            <a:off x="365760" y="5638800"/>
            <a:ext cx="11521440" cy="536448"/>
          </a:xfrm>
          <a:prstGeom prst="rect">
            <a:avLst/>
          </a:prstGeom>
          <a:solidFill>
            <a:srgbClr val="E8F4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5638800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6720" y="5675376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Nice-to-Have: Modular script structure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6217920" y="5675376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BaseExtractor abstract class - all 5 modules inherit shared logic; new extractors need only 2 methods</a:t>
            </a:r>
            <a:endParaRPr lang="en-US" sz="1133"/>
          </a:p>
        </p:txBody>
      </p:sp>
      <p:sp>
        <p:nvSpPr>
          <p:cNvPr id="57" name="Shape 55"/>
          <p:cNvSpPr/>
          <p:nvPr/>
        </p:nvSpPr>
        <p:spPr>
          <a:xfrm>
            <a:off x="10887456" y="5724144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6"/>
          <p:cNvSpPr/>
          <p:nvPr/>
        </p:nvSpPr>
        <p:spPr>
          <a:xfrm>
            <a:off x="10887456" y="5724144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  <p:sp>
        <p:nvSpPr>
          <p:cNvPr id="59" name="Shape 57"/>
          <p:cNvSpPr/>
          <p:nvPr/>
        </p:nvSpPr>
        <p:spPr>
          <a:xfrm>
            <a:off x="365760" y="6205728"/>
            <a:ext cx="11521440" cy="5364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6205728"/>
            <a:ext cx="5669280" cy="536448"/>
          </a:xfrm>
          <a:prstGeom prst="rect">
            <a:avLst/>
          </a:prstGeom>
          <a:solidFill>
            <a:srgbClr val="FFFFFF">
              <a:alpha val="0"/>
            </a:srgbClr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6720" y="6242304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Automation blueprint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6217920" y="6242304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scheduled flow (Project-Sentinel-DailyExtraction) - serverless, unattended, daily trigger</a:t>
            </a:r>
            <a:endParaRPr lang="en-US" sz="1133"/>
          </a:p>
        </p:txBody>
      </p:sp>
      <p:sp>
        <p:nvSpPr>
          <p:cNvPr id="63" name="Shape 61"/>
          <p:cNvSpPr/>
          <p:nvPr/>
        </p:nvSpPr>
        <p:spPr>
          <a:xfrm>
            <a:off x="10887456" y="6291072"/>
            <a:ext cx="877824" cy="341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4" name="Text 62"/>
          <p:cNvSpPr/>
          <p:nvPr/>
        </p:nvSpPr>
        <p:spPr>
          <a:xfrm>
            <a:off x="10887456" y="6291072"/>
            <a:ext cx="8778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219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>
                <a:solidFill>
                  <a:schemeClr val="bg2">
                    <a:lumMod val="2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360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58240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Known Limitations</a:t>
            </a:r>
            <a:endParaRPr lang="en-US" sz="1867"/>
          </a:p>
        </p:txBody>
      </p:sp>
      <p:sp>
        <p:nvSpPr>
          <p:cNvPr id="5" name="Shape 3"/>
          <p:cNvSpPr/>
          <p:nvPr/>
        </p:nvSpPr>
        <p:spPr>
          <a:xfrm>
            <a:off x="365760" y="1706880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0032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Client Secret in config.py</a:t>
            </a:r>
            <a:endParaRPr lang="en-US" sz="1467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stored as plain text - must be moved to Azure Key Vault before production deployment.</a:t>
            </a:r>
            <a:endParaRPr lang="en-US" sz="1267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99232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Retention &amp; eDiscovery Fields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548640" y="341376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95-field schema is ready but </a:t>
            </a:r>
            <a:r>
              <a:rPr lang="en-US" sz="12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retention_Records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return null - requires specific Purview config not in dev tenant.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4135448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218432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Power BI Refresh is Manual</a:t>
            </a:r>
            <a:endParaRPr lang="en-US" sz="1467"/>
          </a:p>
        </p:txBody>
      </p:sp>
      <p:sp>
        <p:nvSpPr>
          <p:cNvPr id="13" name="Text 11"/>
          <p:cNvSpPr/>
          <p:nvPr/>
        </p:nvSpPr>
        <p:spPr>
          <a:xfrm>
            <a:off x="548640" y="463296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refresh gateway; security analyst must click Refresh in Power BI Desktop after each extraction.</a:t>
            </a:r>
            <a:endParaRPr lang="en-US" sz="1267"/>
          </a:p>
        </p:txBody>
      </p:sp>
      <p:sp>
        <p:nvSpPr>
          <p:cNvPr id="14" name="Shape 12"/>
          <p:cNvSpPr/>
          <p:nvPr/>
        </p:nvSpPr>
        <p:spPr>
          <a:xfrm>
            <a:off x="365760" y="5364480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5437632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DLP Requires E5 Licensing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DLP Extractor is built and ready - but needs E5 license to populate </a:t>
            </a:r>
            <a:r>
              <a:rPr lang="en-US" sz="12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dlpMatches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fields in production.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0" y="1158240"/>
            <a:ext cx="5486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Planned Improvements</a:t>
            </a:r>
            <a:endParaRPr lang="en-US" sz="1867"/>
          </a:p>
        </p:txBody>
      </p:sp>
      <p:sp>
        <p:nvSpPr>
          <p:cNvPr id="18" name="Shape 16"/>
          <p:cNvSpPr/>
          <p:nvPr/>
        </p:nvSpPr>
        <p:spPr>
          <a:xfrm>
            <a:off x="6339840" y="1706880"/>
            <a:ext cx="548640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22720" y="1780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Automated Test Suite</a:t>
            </a:r>
            <a:endParaRPr lang="en-US" sz="1467"/>
          </a:p>
        </p:txBody>
      </p:sp>
      <p:sp>
        <p:nvSpPr>
          <p:cNvPr id="20" name="Text 18"/>
          <p:cNvSpPr/>
          <p:nvPr/>
        </p:nvSpPr>
        <p:spPr>
          <a:xfrm>
            <a:off x="6522720" y="21945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for each extractor module + GitHub Actions CI/CD to catch breaking Graph API changes automatically.</a:t>
            </a:r>
            <a:endParaRPr lang="en-US" sz="1267"/>
          </a:p>
        </p:txBody>
      </p:sp>
      <p:sp>
        <p:nvSpPr>
          <p:cNvPr id="21" name="Shape 19"/>
          <p:cNvSpPr/>
          <p:nvPr/>
        </p:nvSpPr>
        <p:spPr>
          <a:xfrm>
            <a:off x="6339840" y="2926080"/>
            <a:ext cx="548640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2720" y="2999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Teams Message Extractor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6522720" y="34137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Add a 6th extraction module using Teams. </a:t>
            </a:r>
            <a:r>
              <a:rPr lang="en-US" sz="12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ReadBasic.All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for visibility into channel activity.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39840" y="4145280"/>
            <a:ext cx="548640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22720" y="4218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Multi-Tenant Support</a:t>
            </a:r>
            <a:endParaRPr lang="en-US" sz="1467"/>
          </a:p>
        </p:txBody>
      </p:sp>
      <p:sp>
        <p:nvSpPr>
          <p:cNvPr id="26" name="Text 24"/>
          <p:cNvSpPr/>
          <p:nvPr/>
        </p:nvSpPr>
        <p:spPr>
          <a:xfrm>
            <a:off x="6522720" y="46329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 redesign to run extractions across multiple SECMON1 client tenants from a single deployment.</a:t>
            </a:r>
            <a:endParaRPr lang="en-US" sz="1267"/>
          </a:p>
        </p:txBody>
      </p:sp>
      <p:sp>
        <p:nvSpPr>
          <p:cNvPr id="27" name="Shape 25"/>
          <p:cNvSpPr/>
          <p:nvPr/>
        </p:nvSpPr>
        <p:spPr>
          <a:xfrm>
            <a:off x="6339840" y="5364480"/>
            <a:ext cx="5486400" cy="1072896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22720" y="543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Expanded GitHub Docs</a:t>
            </a:r>
            <a:endParaRPr lang="en-US" sz="1467"/>
          </a:p>
        </p:txBody>
      </p:sp>
      <p:sp>
        <p:nvSpPr>
          <p:cNvPr id="29" name="Text 27"/>
          <p:cNvSpPr/>
          <p:nvPr/>
        </p:nvSpPr>
        <p:spPr>
          <a:xfrm>
            <a:off x="6522720" y="58521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README, inline code comments, and contribution guide at github.com/YaswanthKanderi/ProjectSentinel</a:t>
            </a:r>
            <a:endParaRPr lang="en-US" sz="1267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4630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>
                <a:solidFill>
                  <a:srgbClr val="7030A0"/>
                </a:solidFill>
                <a:latin typeface="+mj-lt"/>
                <a:ea typeface="Calibri" pitchFamily="34" charset="-122"/>
                <a:cs typeface="Calibri" pitchFamily="34" charset="-120"/>
              </a:rPr>
              <a:t>SPRINT MILESTONES &amp; DELIVERABLES</a:t>
            </a:r>
            <a:endParaRPr lang="en-US" sz="400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9248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>
                <a:solidFill>
                  <a:srgbClr val="1E23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  .  32 Jira Tasks Completed  .  Scrum Agile Methodology</a:t>
            </a:r>
            <a:endParaRPr lang="en-US" sz="2000">
              <a:solidFill>
                <a:srgbClr val="1E2303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41120"/>
            <a:ext cx="5486400" cy="1584960"/>
          </a:xfrm>
          <a:prstGeom prst="rect">
            <a:avLst/>
          </a:prstGeom>
          <a:solidFill>
            <a:srgbClr val="F9F7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41120"/>
            <a:ext cx="853440" cy="1584960"/>
          </a:xfrm>
          <a:prstGeom prst="rect">
            <a:avLst/>
          </a:prstGeom>
          <a:solidFill>
            <a:schemeClr val="accent1">
              <a:lumMod val="2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112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48640" y="213360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27 -Apr 10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1499616" y="1414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Raj Kumar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499616" y="180441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1E23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 reviewed, team roles, Jira board, API research, tradeshow</a:t>
            </a:r>
            <a:endParaRPr lang="en-US">
              <a:solidFill>
                <a:srgbClr val="1E2303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486400" cy="1584960"/>
          </a:xfrm>
          <a:prstGeom prst="rect">
            <a:avLst/>
          </a:prstGeom>
          <a:solidFill>
            <a:srgbClr val="F9F7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853440" cy="158496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548640" y="390144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 10 -24</a:t>
            </a:r>
            <a:endParaRPr lang="en-US" sz="1067"/>
          </a:p>
        </p:txBody>
      </p:sp>
      <p:sp>
        <p:nvSpPr>
          <p:cNvPr id="15" name="Text 13"/>
          <p:cNvSpPr/>
          <p:nvPr/>
        </p:nvSpPr>
        <p:spPr>
          <a:xfrm>
            <a:off x="1499616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Lahari Borra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9616" y="357225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v2.0.0 (95 fields), API permissions, 6 UML diagrams, tender doc</a:t>
            </a:r>
            <a:endParaRPr lang="en-US" sz="16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876800"/>
            <a:ext cx="5486400" cy="15849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876800"/>
            <a:ext cx="853440" cy="158496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7680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 24- May 1</a:t>
            </a:r>
            <a:endParaRPr lang="en-US" sz="1067"/>
          </a:p>
        </p:txBody>
      </p:sp>
      <p:sp>
        <p:nvSpPr>
          <p:cNvPr id="21" name="Text 19"/>
          <p:cNvSpPr/>
          <p:nvPr/>
        </p:nvSpPr>
        <p:spPr>
          <a:xfrm>
            <a:off x="1499616" y="4949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Vanka Manjunath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99616" y="534009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 (5 modules + </a:t>
            </a:r>
            <a:r>
              <a:rPr lang="en-US" sz="1600" err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BaseExtractor</a:t>
            </a:r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MSAL auth, </a:t>
            </a:r>
            <a:r>
              <a:rPr lang="en-US" sz="1600" err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ThrottleHandler</a:t>
            </a:r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Azure Function, usability trial</a:t>
            </a:r>
            <a:endParaRPr lang="en-US" sz="16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341120"/>
            <a:ext cx="5486400" cy="1584960"/>
          </a:xfrm>
          <a:prstGeom prst="rect">
            <a:avLst/>
          </a:prstGeom>
          <a:solidFill>
            <a:srgbClr val="F9F7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1341120"/>
            <a:ext cx="853440" cy="15849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34112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400800" y="213360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1-15</a:t>
            </a:r>
            <a:endParaRPr lang="en-US" sz="1067"/>
          </a:p>
        </p:txBody>
      </p:sp>
      <p:sp>
        <p:nvSpPr>
          <p:cNvPr id="27" name="Text 25"/>
          <p:cNvSpPr/>
          <p:nvPr/>
        </p:nvSpPr>
        <p:spPr>
          <a:xfrm>
            <a:off x="7351776" y="1414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Yaswanth Kanderi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51776" y="180441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scheduled flow, live extraction: 183 sign-ins, 18 files, 72 permissions</a:t>
            </a:r>
            <a:endParaRPr lang="en-US" sz="16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486400" cy="1584960"/>
          </a:xfrm>
          <a:prstGeom prst="rect">
            <a:avLst/>
          </a:prstGeom>
          <a:solidFill>
            <a:srgbClr val="F9F7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108960"/>
            <a:ext cx="853440" cy="1584960"/>
          </a:xfrm>
          <a:prstGeom prst="rect">
            <a:avLst/>
          </a:prstGeom>
          <a:solidFill>
            <a:schemeClr val="accent4">
              <a:lumMod val="25000"/>
            </a:scheme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10896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6400800" y="390144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15-22</a:t>
            </a:r>
            <a:endParaRPr lang="en-US" sz="1067"/>
          </a:p>
        </p:txBody>
      </p:sp>
      <p:sp>
        <p:nvSpPr>
          <p:cNvPr id="33" name="Text 31"/>
          <p:cNvSpPr/>
          <p:nvPr/>
        </p:nvSpPr>
        <p:spPr>
          <a:xfrm>
            <a:off x="7351776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Jaswanthi Palleti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51776" y="357225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sign-ins extracted, Power BI built, DLP policy configured</a:t>
            </a:r>
            <a:endParaRPr lang="en-US" sz="16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4876800"/>
            <a:ext cx="5486400" cy="15849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chemeClr val="bg2">
                <a:lumMod val="2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4876800"/>
            <a:ext cx="853440" cy="1584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876800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400800" y="5669280"/>
            <a:ext cx="85344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22-29</a:t>
            </a:r>
            <a:endParaRPr lang="en-US" sz="1067"/>
          </a:p>
        </p:txBody>
      </p:sp>
      <p:sp>
        <p:nvSpPr>
          <p:cNvPr id="39" name="Text 37"/>
          <p:cNvSpPr/>
          <p:nvPr/>
        </p:nvSpPr>
        <p:spPr>
          <a:xfrm>
            <a:off x="7351776" y="4949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Bharanee Raghav Murru</a:t>
            </a:r>
            <a:endParaRPr lang="en-US" sz="24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51776" y="534009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accent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finalized, DLP alert confirmed (TFN), final docs complete, handover-ready</a:t>
            </a:r>
            <a:endParaRPr lang="en-US" sz="1600">
              <a:solidFill>
                <a:schemeClr val="accent1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609600"/>
            <a:ext cx="4267200" cy="3901440"/>
          </a:xfrm>
          <a:prstGeom prst="ellipse">
            <a:avLst/>
          </a:prstGeom>
          <a:solidFill>
            <a:srgbClr val="F9E07A">
              <a:alpha val="55000"/>
            </a:srgbClr>
          </a:solidFill>
          <a:ln w="12700">
            <a:solidFill>
              <a:srgbClr val="F9E07A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31680" y="731520"/>
            <a:ext cx="3169920" cy="3169920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243840"/>
            <a:ext cx="2194560" cy="2194560"/>
          </a:xfrm>
          <a:prstGeom prst="ellipse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09600" y="4267200"/>
            <a:ext cx="3413760" cy="3169920"/>
          </a:xfrm>
          <a:prstGeom prst="ellipse">
            <a:avLst/>
          </a:prstGeom>
          <a:solidFill>
            <a:srgbClr val="F9E07A">
              <a:alpha val="55000"/>
            </a:srgbClr>
          </a:solidFill>
          <a:ln w="12700">
            <a:solidFill>
              <a:srgbClr val="F9E07A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75360" y="5242560"/>
            <a:ext cx="2194560" cy="2194560"/>
          </a:xfrm>
          <a:prstGeom prst="ellipse">
            <a:avLst/>
          </a:prstGeom>
          <a:solidFill>
            <a:srgbClr val="F5C842">
              <a:alpha val="65000"/>
            </a:srgbClr>
          </a:solidFill>
          <a:ln w="12700">
            <a:solidFill>
              <a:srgbClr val="F5C84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65760"/>
            <a:ext cx="390144" cy="390144"/>
          </a:xfrm>
          <a:prstGeom prst="ellipse">
            <a:avLst/>
          </a:prstGeom>
          <a:solidFill>
            <a:srgbClr val="F9E07A">
              <a:alpha val="70000"/>
            </a:srgbClr>
          </a:solidFill>
          <a:ln w="12700">
            <a:solidFill>
              <a:srgbClr val="F9E07A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22080" y="5120640"/>
            <a:ext cx="487680" cy="487680"/>
          </a:xfrm>
          <a:prstGeom prst="ellipse">
            <a:avLst/>
          </a:prstGeom>
          <a:solidFill>
            <a:srgbClr val="F5C842">
              <a:alpha val="60000"/>
            </a:srgbClr>
          </a:solidFill>
          <a:ln w="12700">
            <a:solidFill>
              <a:srgbClr val="F5C842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1219200"/>
            <a:ext cx="1121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0" b="1" i="1">
                <a:solidFill>
                  <a:srgbClr val="F5C842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12800"/>
          </a:p>
        </p:txBody>
      </p:sp>
      <p:sp>
        <p:nvSpPr>
          <p:cNvPr id="10" name="Text 8"/>
          <p:cNvSpPr/>
          <p:nvPr/>
        </p:nvSpPr>
        <p:spPr>
          <a:xfrm>
            <a:off x="487680" y="1219200"/>
            <a:ext cx="1121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0" b="1" i="1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9600"/>
          </a:p>
        </p:txBody>
      </p:sp>
      <p:sp>
        <p:nvSpPr>
          <p:cNvPr id="11" name="Shape 9"/>
          <p:cNvSpPr/>
          <p:nvPr/>
        </p:nvSpPr>
        <p:spPr>
          <a:xfrm>
            <a:off x="3413760" y="3121152"/>
            <a:ext cx="5364480" cy="48768"/>
          </a:xfrm>
          <a:prstGeom prst="rect">
            <a:avLst/>
          </a:prstGeom>
          <a:solidFill>
            <a:srgbClr val="F9E07A">
              <a:alpha val="65000"/>
            </a:srgbClr>
          </a:solidFill>
          <a:ln w="12700">
            <a:solidFill>
              <a:srgbClr val="F9E07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32674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  |  End-to-End Automated Governance Pipeline</a:t>
            </a:r>
            <a:endParaRPr lang="en-US" sz="1733"/>
          </a:p>
        </p:txBody>
      </p:sp>
      <p:sp>
        <p:nvSpPr>
          <p:cNvPr id="13" name="Text 11"/>
          <p:cNvSpPr/>
          <p:nvPr/>
        </p:nvSpPr>
        <p:spPr>
          <a:xfrm>
            <a:off x="609600" y="36819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Sentinals.onmicrosoft.com  |  Microsoft 365 Tenant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438912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Overview</a:t>
            </a:r>
            <a:endParaRPr lang="en-US" sz="933"/>
          </a:p>
        </p:txBody>
      </p:sp>
      <p:sp>
        <p:nvSpPr>
          <p:cNvPr id="16" name="Shape 14"/>
          <p:cNvSpPr/>
          <p:nvPr/>
        </p:nvSpPr>
        <p:spPr>
          <a:xfrm>
            <a:off x="1706880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9E07A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6880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933"/>
          </a:p>
        </p:txBody>
      </p:sp>
      <p:sp>
        <p:nvSpPr>
          <p:cNvPr id="18" name="Shape 16"/>
          <p:cNvSpPr/>
          <p:nvPr/>
        </p:nvSpPr>
        <p:spPr>
          <a:xfrm>
            <a:off x="2974848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4848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Admin</a:t>
            </a:r>
            <a:endParaRPr lang="en-US" sz="933"/>
          </a:p>
        </p:txBody>
      </p:sp>
      <p:sp>
        <p:nvSpPr>
          <p:cNvPr id="20" name="Shape 18"/>
          <p:cNvSpPr/>
          <p:nvPr/>
        </p:nvSpPr>
        <p:spPr>
          <a:xfrm>
            <a:off x="4242816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9E07A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33"/>
          </a:p>
        </p:txBody>
      </p:sp>
      <p:sp>
        <p:nvSpPr>
          <p:cNvPr id="22" name="Shape 20"/>
          <p:cNvSpPr/>
          <p:nvPr/>
        </p:nvSpPr>
        <p:spPr>
          <a:xfrm>
            <a:off x="5510784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0784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</a:t>
            </a:r>
            <a:endParaRPr lang="en-US" sz="933"/>
          </a:p>
        </p:txBody>
      </p:sp>
      <p:sp>
        <p:nvSpPr>
          <p:cNvPr id="24" name="Shape 22"/>
          <p:cNvSpPr/>
          <p:nvPr/>
        </p:nvSpPr>
        <p:spPr>
          <a:xfrm>
            <a:off x="6778752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9E07A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8752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33"/>
          </a:p>
        </p:txBody>
      </p:sp>
      <p:sp>
        <p:nvSpPr>
          <p:cNvPr id="26" name="Shape 24"/>
          <p:cNvSpPr/>
          <p:nvPr/>
        </p:nvSpPr>
        <p:spPr>
          <a:xfrm>
            <a:off x="8046720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33"/>
          </a:p>
        </p:txBody>
      </p:sp>
      <p:sp>
        <p:nvSpPr>
          <p:cNvPr id="28" name="Shape 26"/>
          <p:cNvSpPr/>
          <p:nvPr/>
        </p:nvSpPr>
        <p:spPr>
          <a:xfrm>
            <a:off x="9314688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9E07A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14688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</a:t>
            </a:r>
            <a:endParaRPr lang="en-US" sz="933"/>
          </a:p>
        </p:txBody>
      </p:sp>
      <p:sp>
        <p:nvSpPr>
          <p:cNvPr id="30" name="Shape 28"/>
          <p:cNvSpPr/>
          <p:nvPr/>
        </p:nvSpPr>
        <p:spPr>
          <a:xfrm>
            <a:off x="10582656" y="4120896"/>
            <a:ext cx="1170432" cy="31699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82656" y="4120896"/>
            <a:ext cx="11704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933"/>
          </a:p>
        </p:txBody>
      </p:sp>
      <p:sp>
        <p:nvSpPr>
          <p:cNvPr id="32" name="Shape 30"/>
          <p:cNvSpPr/>
          <p:nvPr/>
        </p:nvSpPr>
        <p:spPr>
          <a:xfrm>
            <a:off x="1036320" y="4657344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6320" y="4657344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Kanderi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3596640" y="4657344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6640" y="4657344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 Mustyala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6156960" y="4657344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6960" y="4657344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Vanka Manjunath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8717280" y="4657344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9E0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17280" y="4657344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Raghav Murru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3596640" y="5096256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6640" y="50962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Jaswanthi Palleti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6156960" y="5096256"/>
            <a:ext cx="2438400" cy="3413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6960" y="50962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Lahari Borra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609600" y="558393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Christopher McNaughton  |  SECMON1</a:t>
            </a:r>
            <a:endParaRPr lang="en-US" sz="1267"/>
          </a:p>
        </p:txBody>
      </p:sp>
      <p:sp>
        <p:nvSpPr>
          <p:cNvPr id="45" name="Shape 43"/>
          <p:cNvSpPr/>
          <p:nvPr/>
        </p:nvSpPr>
        <p:spPr>
          <a:xfrm>
            <a:off x="609600" y="5974080"/>
            <a:ext cx="10972800" cy="0"/>
          </a:xfrm>
          <a:prstGeom prst="line">
            <a:avLst/>
          </a:prstGeom>
          <a:noFill/>
          <a:ln w="9525">
            <a:solidFill>
              <a:srgbClr val="F9E0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600" y="5998464"/>
            <a:ext cx="10972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6B8A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sz="1000" dirty="0" err="1">
                <a:solidFill>
                  <a:srgbClr val="6B6B8A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YaswanthKanderi</a:t>
            </a:r>
            <a:r>
              <a:rPr lang="en-US" sz="1000" dirty="0">
                <a:solidFill>
                  <a:srgbClr val="6B6B8A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000" dirty="0" err="1">
                <a:solidFill>
                  <a:srgbClr val="6B6B8A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ProjectSentinel</a:t>
            </a:r>
            <a:r>
              <a:rPr lang="en-US" sz="1000" dirty="0"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000">
                <a:solidFill>
                  <a:srgbClr val="6B6B8A"/>
                </a:solidFill>
                <a:latin typeface="Calibri"/>
                <a:ea typeface="Calibri"/>
                <a:cs typeface="Calibri"/>
              </a:rPr>
              <a:t> |  Team Shadow Stacks  |  CSE5IDP  |  La Trobe University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609600"/>
            <a:ext cx="4632960" cy="4267200"/>
          </a:xfrm>
          <a:prstGeom prst="ellipse">
            <a:avLst/>
          </a:prstGeom>
          <a:solidFill>
            <a:srgbClr val="C8BFF0">
              <a:alpha val="55000"/>
            </a:srgbClr>
          </a:solidFill>
          <a:ln w="12700">
            <a:solidFill>
              <a:srgbClr val="C8BFF0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31680" y="975360"/>
            <a:ext cx="3413760" cy="34137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3200" y="-243840"/>
            <a:ext cx="2438400" cy="2438400"/>
          </a:xfrm>
          <a:prstGeom prst="ellipse">
            <a:avLst/>
          </a:prstGeom>
          <a:solidFill>
            <a:srgbClr val="D6D0F5">
              <a:alpha val="80000"/>
            </a:srgbClr>
          </a:solidFill>
          <a:ln w="12700">
            <a:solidFill>
              <a:srgbClr val="D6D0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09600" y="4389120"/>
            <a:ext cx="3048000" cy="3048000"/>
          </a:xfrm>
          <a:prstGeom prst="ellipse">
            <a:avLst/>
          </a:prstGeom>
          <a:solidFill>
            <a:srgbClr val="C8BFF0">
              <a:alpha val="55000"/>
            </a:srgbClr>
          </a:solidFill>
          <a:ln w="12700">
            <a:solidFill>
              <a:srgbClr val="C8BFF0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75360" y="5120640"/>
            <a:ext cx="2194560" cy="2194560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65760"/>
            <a:ext cx="426720" cy="426720"/>
          </a:xfrm>
          <a:prstGeom prst="ellipse">
            <a:avLst/>
          </a:prstGeom>
          <a:solidFill>
            <a:srgbClr val="D6D0F5">
              <a:alpha val="70000"/>
            </a:srgbClr>
          </a:solidFill>
          <a:ln w="12700">
            <a:solidFill>
              <a:srgbClr val="D6D0F5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876800"/>
            <a:ext cx="548640" cy="548640"/>
          </a:xfrm>
          <a:prstGeom prst="ellipse">
            <a:avLst/>
          </a:prstGeom>
          <a:solidFill>
            <a:srgbClr val="C8BFF0">
              <a:alpha val="60000"/>
            </a:srgbClr>
          </a:solidFill>
          <a:ln w="12700">
            <a:solidFill>
              <a:srgbClr val="C8BFF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280160"/>
            <a:ext cx="10972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0" b="1" i="1">
                <a:solidFill>
                  <a:srgbClr val="5B4FCF">
                    <a:alpha val="18000"/>
                  </a:srgbClr>
                </a:solidFill>
                <a:latin typeface="Georgia"/>
                <a:ea typeface="Georgia" pitchFamily="34" charset="-122"/>
                <a:cs typeface="Georgia" pitchFamily="34" charset="-120"/>
              </a:rPr>
              <a:t>THANK YOU</a:t>
            </a:r>
            <a:endParaRPr lang="en-US" sz="12800"/>
          </a:p>
        </p:txBody>
      </p:sp>
      <p:sp>
        <p:nvSpPr>
          <p:cNvPr id="10" name="Text 8"/>
          <p:cNvSpPr/>
          <p:nvPr/>
        </p:nvSpPr>
        <p:spPr>
          <a:xfrm>
            <a:off x="609600" y="1219200"/>
            <a:ext cx="10972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0" b="1" i="1">
                <a:solidFill>
                  <a:srgbClr val="5B4FCF"/>
                </a:solidFill>
                <a:latin typeface="Georgia"/>
              </a:rPr>
              <a:t>Thank You</a:t>
            </a:r>
            <a:endParaRPr lang="en-US" sz="9600">
              <a:solidFill>
                <a:srgbClr val="000000"/>
              </a:solidFill>
              <a:latin typeface="Aptos Ligh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13760" y="2901696"/>
            <a:ext cx="5364480" cy="48768"/>
          </a:xfrm>
          <a:prstGeom prst="rect">
            <a:avLst/>
          </a:prstGeom>
          <a:solidFill>
            <a:srgbClr val="7B6FE0">
              <a:alpha val="60000"/>
            </a:srgbClr>
          </a:solidFill>
          <a:ln w="12700">
            <a:solidFill>
              <a:srgbClr val="7B6FE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3048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3D3480"/>
                </a:solidFill>
                <a:latin typeface="Calibri"/>
                <a:ea typeface="Calibri"/>
                <a:cs typeface="Calibri"/>
              </a:rPr>
              <a:t>Project Sentinel  Microsoft 365 Governance Intelligence Tool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47472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Shadow Stacks  ·  CSE5IDP  ·  La Trobe University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999744" y="3877056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744" y="387705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Kanderi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3584448" y="3877056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387705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 Mustyala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169152" y="3877056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9152" y="387705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Vanka Manjunath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8753856" y="3877056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D6D0F5"/>
          </a:solidFill>
          <a:ln w="12700">
            <a:solidFill>
              <a:srgbClr val="D6D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3856" y="387705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Raghav Murru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3584448" y="4340352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C8BFF0"/>
          </a:solidFill>
          <a:ln w="12700">
            <a:solidFill>
              <a:srgbClr val="C8B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434035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Jaswanthi Palleti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169152" y="4340352"/>
            <a:ext cx="2438400" cy="365760"/>
          </a:xfrm>
          <a:prstGeom prst="roundRect">
            <a:avLst>
              <a:gd name="adj" fmla="val 50000"/>
            </a:avLst>
          </a:prstGeom>
          <a:solidFill>
            <a:srgbClr val="C8BFF0"/>
          </a:solidFill>
          <a:ln w="12700">
            <a:solidFill>
              <a:srgbClr val="C8B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434035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Lahari Borra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09600" y="485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>
                <a:solidFill>
                  <a:srgbClr val="7B6FE0"/>
                </a:solidFill>
                <a:latin typeface="Calibri"/>
                <a:ea typeface="Calibri"/>
                <a:cs typeface="Calibri"/>
              </a:rPr>
              <a:t>Industry Partner: Christopher McNaughton SECMON1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5876544"/>
            <a:ext cx="10972800" cy="36576"/>
          </a:xfrm>
          <a:prstGeom prst="rect">
            <a:avLst/>
          </a:prstGeom>
          <a:solidFill>
            <a:srgbClr val="C8BFF0">
              <a:alpha val="60000"/>
            </a:srgbClr>
          </a:solidFill>
          <a:ln w="12700">
            <a:solidFill>
              <a:srgbClr val="C8BFF0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600" y="594969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33"/>
          </a:p>
        </p:txBody>
      </p:sp>
      <p:sp>
        <p:nvSpPr>
          <p:cNvPr id="29" name="Shape 3" descr="q">
            <a:extLst>
              <a:ext uri="{FF2B5EF4-FFF2-40B4-BE49-F238E27FC236}">
                <a16:creationId xmlns:a16="http://schemas.microsoft.com/office/drawing/2014/main" id="{93B147ED-8037-73DB-F203-6E1245C444AD}"/>
              </a:ext>
            </a:extLst>
          </p:cNvPr>
          <p:cNvSpPr/>
          <p:nvPr/>
        </p:nvSpPr>
        <p:spPr>
          <a:xfrm>
            <a:off x="-305289" y="-942790"/>
            <a:ext cx="3048000" cy="3048000"/>
          </a:xfrm>
          <a:prstGeom prst="ellipse">
            <a:avLst/>
          </a:prstGeom>
          <a:solidFill>
            <a:srgbClr val="C8BFF0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302B5B-DDC5-E285-6B05-622FB0C310C3}"/>
              </a:ext>
            </a:extLst>
          </p:cNvPr>
          <p:cNvSpPr txBox="1"/>
          <p:nvPr/>
        </p:nvSpPr>
        <p:spPr>
          <a:xfrm>
            <a:off x="201155" y="447782"/>
            <a:ext cx="23467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>
                <a:solidFill>
                  <a:srgbClr val="5B4FCF"/>
                </a:solidFill>
                <a:latin typeface="Georgia"/>
              </a:rPr>
              <a:t>Questions..?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Vibrant vectors</vt:lpstr>
      <vt:lpstr>PROJECT SENTINEL Microsoft 365 Governance Intelligence Extraction Tool  Team Shadow Stacks  x  SECMON1 (Christopher McNaughton)   </vt:lpstr>
      <vt:lpstr>PowerPoint Presentation</vt:lpstr>
      <vt:lpstr>PowerPoint Presentation</vt:lpstr>
      <vt:lpstr>PowerPoint Presentation</vt:lpstr>
      <vt:lpstr>USER STORIES &amp; PERSONAS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Governance Outcomes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22519671@students.ltu.edu.au</dc:creator>
  <cp:revision>46</cp:revision>
  <dcterms:modified xsi:type="dcterms:W3CDTF">2026-06-04T13:24:07Z</dcterms:modified>
</cp:coreProperties>
</file>